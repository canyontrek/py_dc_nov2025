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6"/>
  </p:notesMasterIdLst>
  <p:handoutMasterIdLst>
    <p:handoutMasterId r:id="rId27"/>
  </p:handoutMasterIdLst>
  <p:sldIdLst>
    <p:sldId id="305"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Lst>
  <p:sldSz cx="12192000" cy="6858000"/>
  <p:notesSz cx="6645275" cy="9775825"/>
  <p:embeddedFontLst>
    <p:embeddedFont>
      <p:font typeface="Montserrat" panose="00000500000000000000" pitchFamily="2" charset="0"/>
      <p:regular r:id="rId28"/>
      <p:bold r:id="rId29"/>
      <p:italic r:id="rId30"/>
      <p:boldItalic r:id="rId31"/>
    </p:embeddedFont>
    <p:embeddedFont>
      <p:font typeface="Montserrat Black" panose="00000A00000000000000" pitchFamily="2" charset="0"/>
      <p:bold r:id="rId32"/>
      <p:boldItalic r:id="rId33"/>
    </p:embeddedFont>
  </p:embeddedFontLst>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2750" autoAdjust="0"/>
  </p:normalViewPr>
  <p:slideViewPr>
    <p:cSldViewPr snapToGrid="0" snapToObjects="1" showGuides="1">
      <p:cViewPr varScale="1">
        <p:scale>
          <a:sx n="102" d="100"/>
          <a:sy n="102" d="100"/>
        </p:scale>
        <p:origin x="1218" y="102"/>
      </p:cViewPr>
      <p:guideLst>
        <p:guide pos="3840"/>
        <p:guide orient="horz" pos="3770"/>
      </p:guideLst>
    </p:cSldViewPr>
  </p:slideViewPr>
  <p:outlineViewPr>
    <p:cViewPr>
      <p:scale>
        <a:sx n="33" d="100"/>
        <a:sy n="33" d="100"/>
      </p:scale>
      <p:origin x="0" y="0"/>
    </p:cViewPr>
    <p:sldLst>
      <p:sld r:id="rId1" collapse="1"/>
      <p:sld r:id="rId2" collapse="1"/>
      <p:sld r:id="rId3"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5.xml"/><Relationship Id="rId1"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520700" y="989013"/>
            <a:ext cx="5602288" cy="31527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553251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9039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type="body" idx="1"/>
          </p:nvPr>
        </p:nvSpPr>
        <p:spPr/>
        <p:txBody>
          <a:bodyPr/>
          <a:lstStyle/>
          <a:p>
            <a:r>
              <a:rPr lang="en-GB" dirty="0"/>
              <a:t>The examples listed above, cover the most common regular expression meta-characters. If you are new to regular expressions, this is a good table to remember.</a:t>
            </a:r>
          </a:p>
          <a:p>
            <a:r>
              <a:rPr lang="en-GB" dirty="0"/>
              <a:t>The expression Character Class is introduced here. A Character Class may be specified in the 'traditional' way as show, using the square brackets [ ].  </a:t>
            </a:r>
          </a:p>
          <a:p>
            <a:r>
              <a:rPr lang="en-GB" dirty="0"/>
              <a:t>Note that meta-characters used inside […] are different to those used outside. Escaped meta-characters (those prefixed with /) are literals, as are meta-characters inside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931045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type="body" idx="1"/>
          </p:nvPr>
        </p:nvSpPr>
        <p:spPr>
          <a:xfrm>
            <a:off x="728663" y="4679950"/>
            <a:ext cx="5400675" cy="4988836"/>
          </a:xfrm>
        </p:spPr>
        <p:txBody>
          <a:bodyPr/>
          <a:lstStyle/>
          <a:p>
            <a:r>
              <a:rPr lang="en-GB" dirty="0"/>
              <a:t>Importing the re module allows methods on the re class to be called, with search and match being the most common. The </a:t>
            </a:r>
            <a:r>
              <a:rPr lang="en-GB" dirty="0" err="1"/>
              <a:t>fullmatch</a:t>
            </a:r>
            <a:r>
              <a:rPr lang="en-GB" dirty="0"/>
              <a:t> method was introduced at Python 3.4.0. They all return an object of class </a:t>
            </a:r>
            <a:r>
              <a:rPr lang="en-GB" dirty="0" err="1"/>
              <a:t>MatchObject</a:t>
            </a:r>
            <a:r>
              <a:rPr lang="en-GB" dirty="0"/>
              <a:t>, on which several methods may be called.  </a:t>
            </a:r>
          </a:p>
          <a:p>
            <a:r>
              <a:rPr lang="en-US" dirty="0"/>
              <a:t>The group in parentheses is also known as a capturing parentheses group. Text inside parentheses may be referred to later in the RE as a back-reference. </a:t>
            </a:r>
            <a:r>
              <a:rPr lang="en-GB" dirty="0"/>
              <a:t>A useful method is groups(), which returns a tuple containing the matched text, and may be used like back-references. Other methods include start() and end(), which return the positions of the match, and group() which returns the matched string. There are several </a:t>
            </a:r>
            <a:r>
              <a:rPr lang="en-GB" dirty="0" err="1"/>
              <a:t>MatchObject</a:t>
            </a:r>
            <a:r>
              <a:rPr lang="en-GB" dirty="0"/>
              <a:t> attributes, including re, which gives the original regular expression, and string which gives the original input string</a:t>
            </a:r>
          </a:p>
          <a:p>
            <a:r>
              <a:rPr lang="en-GB" dirty="0"/>
              <a:t>If the search (or match) failed to find the pattern then the empty object None is returned, which is false in Boolean context.</a:t>
            </a:r>
          </a:p>
          <a:p>
            <a:r>
              <a:rPr lang="en-GB" dirty="0"/>
              <a:t>Python RE syntax is similar to that used by lower level language libraries, such as the GNU C regex package.</a:t>
            </a:r>
          </a:p>
          <a:p>
            <a:r>
              <a:rPr lang="en-GB" dirty="0"/>
              <a:t>We can compile our </a:t>
            </a:r>
            <a:r>
              <a:rPr lang="en-GB" dirty="0" err="1"/>
              <a:t>REs</a:t>
            </a:r>
            <a:r>
              <a:rPr lang="en-GB" dirty="0"/>
              <a:t> for efficiency, for example:</a:t>
            </a:r>
          </a:p>
          <a:p>
            <a:pPr lvl="1"/>
            <a:r>
              <a:rPr lang="en-GB" dirty="0" err="1"/>
              <a:t>reobj</a:t>
            </a:r>
            <a:r>
              <a:rPr lang="en-GB" dirty="0"/>
              <a:t> = </a:t>
            </a:r>
            <a:r>
              <a:rPr lang="en-GB" dirty="0" err="1"/>
              <a:t>re.compile</a:t>
            </a:r>
            <a:r>
              <a:rPr lang="en-GB" dirty="0"/>
              <a:t> (r"([Ii]).*(\1)")</a:t>
            </a:r>
          </a:p>
          <a:p>
            <a:pPr lvl="1"/>
            <a:r>
              <a:rPr lang="en-GB" dirty="0"/>
              <a:t>for line in file:</a:t>
            </a:r>
          </a:p>
          <a:p>
            <a:pPr lvl="1"/>
            <a:r>
              <a:rPr lang="en-GB" dirty="0"/>
              <a:t>    m = </a:t>
            </a:r>
            <a:r>
              <a:rPr lang="en-GB" dirty="0" err="1"/>
              <a:t>reobj.match</a:t>
            </a:r>
            <a:r>
              <a:rPr lang="en-GB" dirty="0"/>
              <a:t>(line)</a:t>
            </a:r>
          </a:p>
          <a:p>
            <a:pPr lvl="1"/>
            <a:r>
              <a:rPr lang="en-GB" dirty="0"/>
              <a:t>    if m:</a:t>
            </a:r>
          </a:p>
          <a:p>
            <a:pPr lvl="1"/>
            <a:r>
              <a:rPr lang="en-GB" dirty="0"/>
              <a:t>        print </a:t>
            </a:r>
            <a:r>
              <a:rPr lang="en-GB" dirty="0" err="1"/>
              <a:t>m.string</a:t>
            </a:r>
            <a:r>
              <a:rPr lang="en-GB" dirty="0"/>
              <a:t>[</a:t>
            </a:r>
            <a:r>
              <a:rPr lang="en-GB" dirty="0" err="1"/>
              <a:t>m.start</a:t>
            </a:r>
            <a:r>
              <a:rPr lang="en-GB" dirty="0"/>
              <a:t>():</a:t>
            </a:r>
            <a:r>
              <a:rPr lang="en-GB" dirty="0" err="1"/>
              <a:t>m.end</a:t>
            </a:r>
            <a:r>
              <a:rPr lang="en-GB" dirty="0"/>
              <a:t>()]</a:t>
            </a:r>
          </a:p>
          <a:p>
            <a:r>
              <a:rPr lang="en-GB" dirty="0"/>
              <a:t>Notice the use of raw strings (r"…"), these mean we do not have to escape (\) special characters like brackets and braces – particularly useful with Regular Expressions.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72106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3"/>
          <p:cNvSpPr>
            <a:spLocks noGrp="1" noChangeArrowheads="1"/>
          </p:cNvSpPr>
          <p:nvPr>
            <p:ph type="body" idx="1"/>
          </p:nvPr>
        </p:nvSpPr>
        <p:spPr/>
        <p:txBody>
          <a:bodyPr/>
          <a:lstStyle/>
          <a:p>
            <a:r>
              <a:rPr lang="en-GB" dirty="0"/>
              <a:t>Substitution is reminiscent of </a:t>
            </a:r>
            <a:r>
              <a:rPr lang="en-GB" dirty="0" err="1"/>
              <a:t>awk</a:t>
            </a:r>
            <a:r>
              <a:rPr lang="en-GB" dirty="0"/>
              <a:t>, in that we have a couple of method calls.  sub is used where we just want the new string, whereas </a:t>
            </a:r>
            <a:r>
              <a:rPr lang="en-GB" dirty="0" err="1"/>
              <a:t>subn</a:t>
            </a:r>
            <a:r>
              <a:rPr lang="en-GB" dirty="0"/>
              <a:t> returns both the altered string and the number of matches. Both perform global substitutions from the left of the string.</a:t>
            </a:r>
          </a:p>
          <a:p>
            <a:r>
              <a:rPr lang="en-GB" dirty="0"/>
              <a:t>There are other useful re functions, for example split, which is shown on the next slide.</a:t>
            </a:r>
          </a:p>
          <a:p>
            <a:r>
              <a:rPr lang="en-GB" dirty="0"/>
              <a:t>We have also shown a compiled Regular Expression object. Compiling the RE, makes for more efficient code when the same pattern is used many times. For example, in a loop. Methods like match, </a:t>
            </a:r>
            <a:r>
              <a:rPr lang="en-GB" dirty="0" err="1"/>
              <a:t>fullmatch</a:t>
            </a:r>
            <a:r>
              <a:rPr lang="en-GB" dirty="0"/>
              <a:t>, </a:t>
            </a:r>
            <a:r>
              <a:rPr lang="en-GB" dirty="0" err="1"/>
              <a:t>findall</a:t>
            </a:r>
            <a:r>
              <a:rPr lang="en-GB" dirty="0"/>
              <a:t>, search, split, sub, and </a:t>
            </a:r>
            <a:r>
              <a:rPr lang="en-GB" dirty="0" err="1"/>
              <a:t>subn</a:t>
            </a:r>
            <a:r>
              <a:rPr lang="en-GB" dirty="0"/>
              <a:t> may be called on these objects.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697372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3"/>
          <p:cNvSpPr>
            <a:spLocks noGrp="1" noChangeArrowheads="1"/>
          </p:cNvSpPr>
          <p:nvPr>
            <p:ph type="body" idx="1"/>
          </p:nvPr>
        </p:nvSpPr>
        <p:spPr/>
        <p:txBody>
          <a:bodyPr/>
          <a:lstStyle/>
          <a:p>
            <a:r>
              <a:rPr lang="en-GB" dirty="0"/>
              <a:t>We have shown a compiled Regular Expression object. Compiling the RE makes for more efficient code when the same pattern is used many times, for example in a loop. Methods like match, </a:t>
            </a:r>
            <a:r>
              <a:rPr lang="en-GB" dirty="0" err="1"/>
              <a:t>findall</a:t>
            </a:r>
            <a:r>
              <a:rPr lang="en-GB" dirty="0"/>
              <a:t>, search, split, sub, and </a:t>
            </a:r>
            <a:r>
              <a:rPr lang="en-GB" dirty="0" err="1"/>
              <a:t>subn</a:t>
            </a:r>
            <a:r>
              <a:rPr lang="en-GB" dirty="0"/>
              <a:t> may be called on these objects, but the argument lists may be different to the versions you are used to.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070778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In other products, like </a:t>
            </a:r>
            <a:r>
              <a:rPr lang="en-GB" dirty="0" err="1"/>
              <a:t>sed</a:t>
            </a:r>
            <a:r>
              <a:rPr lang="en-GB" dirty="0"/>
              <a:t> and Perl 5, flags are placed after the regular expression, but in Python they are set before (Perl 6 uses a similar syntax). It would be tempting to state that the short names are the initial letter of the long name, and that the RE syntax is just the short name in lowercase. You can see that this is not the case, the S and X flags are there for compatibility with other RE engines (e.g. Perl).</a:t>
            </a:r>
          </a:p>
          <a:p>
            <a:r>
              <a:rPr lang="en-GB" dirty="0"/>
              <a:t>The examples combine the IGNORECASE and MULTILINE flags. They look for 'john' in any case at the start of the text </a:t>
            </a:r>
            <a:r>
              <a:rPr lang="en-GB" i="1" dirty="0"/>
              <a:t>or</a:t>
            </a:r>
            <a:r>
              <a:rPr lang="en-GB" dirty="0"/>
              <a:t> immediately after a new-line character.</a:t>
            </a:r>
          </a:p>
          <a:p>
            <a:r>
              <a:rPr lang="en-GB" dirty="0"/>
              <a:t>When embedded in the RE, the single characters can be in any order. When using the re module attribute flags, they are combined with a binary OR |, also in any order. The flags and embedded attributes may be mixed, but that might make the RE even more confusing.</a:t>
            </a:r>
          </a:p>
        </p:txBody>
      </p:sp>
    </p:spTree>
    <p:extLst>
      <p:ext uri="{BB962C8B-B14F-4D97-AF65-F5344CB8AC3E}">
        <p14:creationId xmlns:p14="http://schemas.microsoft.com/office/powerpoint/2010/main" val="3191857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By default, most re methods search for the first (leftmost) occurrence of a pattern. These methods work on all occurrences and return either a list or an iterator to the occurrences. These are particularly useful for repeated patterns over multiple lines.</a:t>
            </a:r>
          </a:p>
          <a:p>
            <a:r>
              <a:rPr lang="en-GB" dirty="0"/>
              <a:t>The </a:t>
            </a:r>
            <a:r>
              <a:rPr lang="en-GB" dirty="0" err="1">
                <a:latin typeface="Courier New" pitchFamily="49" charset="0"/>
              </a:rPr>
              <a:t>findall</a:t>
            </a:r>
            <a:r>
              <a:rPr lang="en-GB" dirty="0"/>
              <a:t> method was added in Python 2.2. </a:t>
            </a:r>
          </a:p>
        </p:txBody>
      </p:sp>
    </p:spTree>
    <p:extLst>
      <p:ext uri="{BB962C8B-B14F-4D97-AF65-F5344CB8AC3E}">
        <p14:creationId xmlns:p14="http://schemas.microsoft.com/office/powerpoint/2010/main" val="1580266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p:txBody>
          <a:bodyPr/>
          <a:lstStyle/>
          <a:p>
            <a:r>
              <a:rPr lang="en-US" dirty="0"/>
              <a:t>Python supports the use of parentheses to group a number of characters or regular expressions into a single unit and then apply a regular expression quantifier to the entire group. This can be useful when the pattern consists of recurring blocks of text or words. </a:t>
            </a:r>
          </a:p>
          <a:p>
            <a:r>
              <a:rPr lang="en-US" dirty="0"/>
              <a:t>The group in parentheses is also known as a capturing parentheses group. Text inside parentheses may be referred to later in the RE as a back-reference. This is done by the use of r'\1', r'\2‘, etc. to refer to the contents of the first and second sets of parentheses. If you nest parentheses, the order of the opening parenthesis is the order in which the back-references are allocated. Make sure you use 'raw' strings for the back-references, since '\1' is itself a special character.</a:t>
            </a:r>
          </a:p>
          <a:p>
            <a:r>
              <a:rPr lang="en-US" dirty="0"/>
              <a:t>The alternative back-reference syntax using r'\g&lt;1&gt;', r'\g&lt;2&gt;‘, etc. is a Python extension, and is associated with named captures (see the Advanced Regular Expressions appendix). It has the additional feature of supporting group 0 (zero) in r'\g&lt;0&gt;', which represents the whole of the matched string (r'\0' is not supported).</a:t>
            </a:r>
          </a:p>
          <a:p>
            <a:r>
              <a:rPr lang="en-US" dirty="0"/>
              <a:t>The use of many back-references in a RE will cause Python to work harder and increase the time taken to find a match. Use sparingly!</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72779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3"/>
          <p:cNvSpPr>
            <a:spLocks noGrp="1" noChangeArrowheads="1"/>
          </p:cNvSpPr>
          <p:nvPr>
            <p:ph type="body" idx="1"/>
          </p:nvPr>
        </p:nvSpPr>
        <p:spPr/>
        <p:txBody>
          <a:bodyPr/>
          <a:lstStyle/>
          <a:p>
            <a:r>
              <a:rPr lang="en-GB" dirty="0"/>
              <a:t>Using (?:pattern) instead of (pattern) is useful for performance tuning, or if you have to introduce an extra group in the middle of a huge expression and you don’t want to update all uses of </a:t>
            </a:r>
            <a:r>
              <a:rPr lang="en-GB" dirty="0" err="1"/>
              <a:t>m.groups</a:t>
            </a:r>
            <a:r>
              <a:rPr lang="en-GB" dirty="0"/>
              <a:t>() following it.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507322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body" idx="1"/>
          </p:nvPr>
        </p:nvSpPr>
        <p:spPr/>
        <p:txBody>
          <a:bodyPr/>
          <a:lstStyle/>
          <a:p>
            <a:r>
              <a:rPr lang="en-GB" dirty="0"/>
              <a:t>These lists are occasionally useful, offering lookups to text matching parentheses groups.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858983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One of the most eagerly awaited features of Python was 'named captures'. The ability to give a name to capturing parentheses groups.</a:t>
            </a:r>
          </a:p>
          <a:p>
            <a:r>
              <a:rPr lang="en-GB" dirty="0"/>
              <a:t>The captured values are placed into a dictionary with the keys set to the capture names and the values of whatever was matched. They can be used as back-references in an </a:t>
            </a:r>
            <a:r>
              <a:rPr lang="en-GB" dirty="0" err="1"/>
              <a:t>re.sub</a:t>
            </a:r>
            <a:r>
              <a:rPr lang="en-GB" dirty="0"/>
              <a:t> replacement string using </a:t>
            </a:r>
            <a:r>
              <a:rPr lang="en-GB" dirty="0">
                <a:latin typeface="Courier New" pitchFamily="49" charset="0"/>
                <a:cs typeface="Courier New" pitchFamily="49" charset="0"/>
              </a:rPr>
              <a:t>(?P=</a:t>
            </a:r>
            <a:r>
              <a:rPr lang="en-GB" i="1" dirty="0">
                <a:cs typeface="Courier New" pitchFamily="49" charset="0"/>
              </a:rPr>
              <a:t>name</a:t>
            </a:r>
            <a:r>
              <a:rPr lang="en-GB" dirty="0">
                <a:latin typeface="Courier New" pitchFamily="49" charset="0"/>
                <a:cs typeface="Courier New" pitchFamily="49" charset="0"/>
              </a:rPr>
              <a:t>)</a:t>
            </a:r>
            <a:r>
              <a:rPr lang="en-GB" dirty="0"/>
              <a:t>. </a:t>
            </a:r>
          </a:p>
          <a:p>
            <a:r>
              <a:rPr lang="en-GB" dirty="0"/>
              <a:t>By the way, the trailing </a:t>
            </a:r>
            <a:r>
              <a:rPr lang="en-GB" b="1" dirty="0" err="1">
                <a:latin typeface="Courier New" pitchFamily="49" charset="0"/>
              </a:rPr>
              <a:t>re.X</a:t>
            </a:r>
            <a:r>
              <a:rPr lang="en-GB" dirty="0"/>
              <a:t> option allows a new-line (or any white-space) to be embedded in the regular expression and ignored.</a:t>
            </a:r>
            <a:endParaRPr lang="en-US" dirty="0"/>
          </a:p>
          <a:p>
            <a:endParaRPr lang="en-US" dirty="0"/>
          </a:p>
        </p:txBody>
      </p:sp>
    </p:spTree>
    <p:extLst>
      <p:ext uri="{BB962C8B-B14F-4D97-AF65-F5344CB8AC3E}">
        <p14:creationId xmlns:p14="http://schemas.microsoft.com/office/powerpoint/2010/main" val="4259329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ChangeArrowheads="1"/>
          </p:cNvSpPr>
          <p:nvPr/>
        </p:nvSpPr>
        <p:spPr bwMode="auto">
          <a:xfrm>
            <a:off x="3849688" y="11113"/>
            <a:ext cx="2944812"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5846" name="Rectangle 3"/>
          <p:cNvSpPr>
            <a:spLocks noChangeArrowheads="1"/>
          </p:cNvSpPr>
          <p:nvPr/>
        </p:nvSpPr>
        <p:spPr bwMode="auto">
          <a:xfrm>
            <a:off x="0" y="9444039"/>
            <a:ext cx="2943225"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5847" name="Rectangle 4"/>
          <p:cNvSpPr>
            <a:spLocks noChangeArrowheads="1"/>
          </p:cNvSpPr>
          <p:nvPr/>
        </p:nvSpPr>
        <p:spPr bwMode="auto">
          <a:xfrm>
            <a:off x="0" y="11113"/>
            <a:ext cx="2943225"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5848" name="Rectangle 5"/>
          <p:cNvSpPr>
            <a:spLocks noGrp="1" noChangeArrowheads="1"/>
          </p:cNvSpPr>
          <p:nvPr>
            <p:ph type="body" idx="1"/>
          </p:nvPr>
        </p:nvSpPr>
        <p:spPr/>
        <p:txBody>
          <a:bodyPr/>
          <a:lstStyle/>
          <a:p>
            <a:r>
              <a:rPr lang="en-GB" dirty="0"/>
              <a:t>A minimal quantifier with match with as few characters as possible, whereas a maximal (the default) will attempt to match with as many as possible.</a:t>
            </a:r>
          </a:p>
          <a:p>
            <a:r>
              <a:rPr lang="en-GB" dirty="0"/>
              <a:t>The descriptions of these quantifiers may seem strange, for example you might think that a minimal match of zero times will always match nothing! The key point to remember is that a regular expression will match the whole pattern if it possibly can, so a minimal pattern will match different numbers of characters, depending on the rest of the pattern. For example, in the text: "123456AAAAAA":</a:t>
            </a:r>
          </a:p>
          <a:p>
            <a:pPr lvl="1"/>
            <a:r>
              <a:rPr lang="en-GB" dirty="0"/>
              <a:t>\d*		matches 123456</a:t>
            </a:r>
          </a:p>
          <a:p>
            <a:pPr lvl="1"/>
            <a:r>
              <a:rPr lang="en-GB" dirty="0"/>
              <a:t>\d*?		matches, but $&amp; is empty</a:t>
            </a:r>
          </a:p>
          <a:p>
            <a:pPr lvl="1"/>
            <a:r>
              <a:rPr lang="en-GB" dirty="0"/>
              <a:t>\d{2}\d*?A	matches 123456A</a:t>
            </a:r>
          </a:p>
          <a:p>
            <a:r>
              <a:rPr lang="en-GB" dirty="0"/>
              <a:t>In the last example, the \d{2} is followed by a minimal match, and is followed by the letter 'A'. In this case, the minimal match has no choice but to match 4 decimal characters, if the whole pattern is to match. Given this text and pattern, the maximal match will produce the same result.</a:t>
            </a:r>
          </a:p>
          <a:p>
            <a:r>
              <a:rPr lang="en-GB" dirty="0"/>
              <a:t>The example above, shows a typical problem with greedy matches where we want to replace the first field, but end up replacing all except the final field.  Incidentally, the traditional solution (in </a:t>
            </a:r>
            <a:r>
              <a:rPr lang="en-GB" dirty="0" err="1"/>
              <a:t>awk</a:t>
            </a:r>
            <a:r>
              <a:rPr lang="en-GB" dirty="0"/>
              <a:t>, for example) would be:</a:t>
            </a:r>
          </a:p>
          <a:p>
            <a:pPr lvl="1"/>
            <a:r>
              <a:rPr lang="en-GB" dirty="0" err="1"/>
              <a:t>re.sub</a:t>
            </a:r>
            <a:r>
              <a:rPr lang="en-GB" dirty="0"/>
              <a:t>('[^:]*:','eric:',passwd,1)</a:t>
            </a:r>
          </a:p>
          <a:p>
            <a:endParaRPr lang="en-GB" dirty="0"/>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111625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p:txBody>
          <a:bodyPr/>
          <a:lstStyle/>
          <a:p>
            <a:r>
              <a:rPr lang="en-GB" dirty="0"/>
              <a:t>Normally . does not match a new-line character. With the /s option, a . does match a new-line, but not at the end of text.</a:t>
            </a:r>
          </a:p>
          <a:p>
            <a:r>
              <a:rPr lang="en-GB" dirty="0"/>
              <a:t>Remember that character class shortcut, \s always matches [ \t\n\r\f] and \S always matches [^ \t\n\r\f], regardless of the /s option. This also applies to the POSIX character class [:space:], but not [:blank:]. Character class [:</a:t>
            </a:r>
            <a:r>
              <a:rPr lang="en-GB" dirty="0" err="1"/>
              <a:t>ascii</a:t>
            </a:r>
            <a:r>
              <a:rPr lang="en-GB" dirty="0"/>
              <a:t>:] also includes the new-line character, whatever its position.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707760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3"/>
          <p:cNvSpPr>
            <a:spLocks noGrp="1" noChangeArrowheads="1"/>
          </p:cNvSpPr>
          <p:nvPr>
            <p:ph type="body" idx="1"/>
          </p:nvPr>
        </p:nvSpPr>
        <p:spPr/>
        <p:txBody>
          <a:bodyPr/>
          <a:lstStyle/>
          <a:p>
            <a:r>
              <a:rPr lang="en-GB" dirty="0"/>
              <a:t>Normally, python will treat the entire search text as a one string and not check for newlines within the string. If you read a file line by line, this does not matter.  If you read an entire file into one variable containing multiple lines (slurping), it does matter, and you can use the m flag to handle this special case. Be careful though, \m means that . matches a line boundary, if a "\n" appears at the end-of-line there will be two matches, one for the "\n" and one for end-of-text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809272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These special characters are not Python specific, and are used by many other RE engines.</a:t>
            </a:r>
          </a:p>
        </p:txBody>
      </p:sp>
    </p:spTree>
    <p:extLst>
      <p:ext uri="{BB962C8B-B14F-4D97-AF65-F5344CB8AC3E}">
        <p14:creationId xmlns:p14="http://schemas.microsoft.com/office/powerpoint/2010/main" val="148916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2" name="Rectangle 3"/>
          <p:cNvSpPr>
            <a:spLocks noGrp="1" noChangeArrowheads="1"/>
          </p:cNvSpPr>
          <p:nvPr>
            <p:ph type="body" idx="1"/>
          </p:nvPr>
        </p:nvSpPr>
        <p:spPr/>
        <p:txBody>
          <a:bodyPr/>
          <a:lstStyle/>
          <a:p>
            <a:r>
              <a:rPr lang="en-GB" dirty="0"/>
              <a:t>Whereas most people will agree that comments are a GOOD THING in 'normal' code, not everyone agrees that comments inside regular expressions add clarity. They can actually confuse the code, as seen in the first example.</a:t>
            </a:r>
          </a:p>
          <a:p>
            <a:r>
              <a:rPr lang="en-GB" dirty="0"/>
              <a:t>The use of the /x modifier makes things more obvious, and that in itself is good.  However, this modifier discards white-space, so if you need to include white-space in your RE you have to 'escape' (\ ) it.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737652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regular expression substitute operations (</a:t>
            </a:r>
            <a:r>
              <a:rPr lang="en-GB" dirty="0" err="1"/>
              <a:t>re.sub</a:t>
            </a:r>
            <a:r>
              <a:rPr lang="en-GB" dirty="0"/>
              <a:t> and </a:t>
            </a:r>
            <a:r>
              <a:rPr lang="en-GB" dirty="0" err="1"/>
              <a:t>re.subn</a:t>
            </a:r>
            <a:r>
              <a:rPr lang="en-GB" dirty="0"/>
              <a:t>) allow the second parameter to be a function (this is where the replacement string normally goes). The function can be a pre-defined named function, or a lambda.</a:t>
            </a:r>
          </a:p>
          <a:p>
            <a:r>
              <a:rPr lang="en-GB" dirty="0"/>
              <a:t>In the example, we are constructing a dictionary. The keys come from a list of character ranges, and values are from the NATO phonetic alphabet. Care must be taken to ensure these lists are in the correct order.</a:t>
            </a:r>
          </a:p>
          <a:p>
            <a:r>
              <a:rPr lang="en-GB" dirty="0"/>
              <a:t>The substitution matches any alphanumeric, and copies this to a match object by the use of a parentheses group </a:t>
            </a:r>
            <a:r>
              <a:rPr lang="en-GB" dirty="0">
                <a:latin typeface="Courier New" panose="02070309020205020404" pitchFamily="49" charset="0"/>
              </a:rPr>
              <a:t>(\w)</a:t>
            </a:r>
            <a:r>
              <a:rPr lang="en-GB" dirty="0"/>
              <a:t>. The single character is then used as a key to the dictionary.</a:t>
            </a:r>
          </a:p>
          <a:p>
            <a:r>
              <a:rPr lang="en-GB" dirty="0"/>
              <a:t>The output in this case will be:</a:t>
            </a:r>
          </a:p>
          <a:p>
            <a:pPr lvl="1"/>
            <a:r>
              <a:rPr lang="en-GB" dirty="0">
                <a:latin typeface="Courier New" pitchFamily="49" charset="0"/>
                <a:cs typeface="Courier New" pitchFamily="49" charset="0"/>
              </a:rPr>
              <a:t>whisky golf zero seven  </a:t>
            </a:r>
            <a:r>
              <a:rPr lang="en-GB" dirty="0" err="1">
                <a:latin typeface="Courier New" pitchFamily="49" charset="0"/>
                <a:cs typeface="Courier New" pitchFamily="49" charset="0"/>
              </a:rPr>
              <a:t>oscar</a:t>
            </a:r>
            <a:r>
              <a:rPr lang="en-GB" dirty="0">
                <a:latin typeface="Courier New" pitchFamily="49" charset="0"/>
                <a:cs typeface="Courier New" pitchFamily="49" charset="0"/>
              </a:rPr>
              <a:t> kilo delta</a:t>
            </a:r>
          </a:p>
        </p:txBody>
      </p:sp>
    </p:spTree>
    <p:extLst>
      <p:ext uri="{BB962C8B-B14F-4D97-AF65-F5344CB8AC3E}">
        <p14:creationId xmlns:p14="http://schemas.microsoft.com/office/powerpoint/2010/main" val="2160520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0" name="Rectangle 3"/>
          <p:cNvSpPr>
            <a:spLocks noGrp="1" noChangeArrowheads="1"/>
          </p:cNvSpPr>
          <p:nvPr>
            <p:ph type="body" idx="1"/>
          </p:nvPr>
        </p:nvSpPr>
        <p:spPr/>
        <p:txBody>
          <a:bodyPr/>
          <a:lstStyle/>
          <a:p>
            <a:r>
              <a:rPr lang="en-US" dirty="0"/>
              <a:t>Look-ahead and look-behind can be used as an extra safeguard in a regular expression: match this, but only if (not) …</a:t>
            </a:r>
          </a:p>
          <a:p>
            <a:r>
              <a:rPr lang="en-GB" dirty="0"/>
              <a:t>Perl supports the following zero-width look-around assertions, </a:t>
            </a:r>
          </a:p>
          <a:p>
            <a:pPr lvl="1"/>
            <a:r>
              <a:rPr lang="en-GB" dirty="0"/>
              <a:t>(?=pattern) 	positive look-ahead</a:t>
            </a:r>
          </a:p>
          <a:p>
            <a:pPr lvl="1"/>
            <a:r>
              <a:rPr lang="en-GB" dirty="0"/>
              <a:t>(?!pattern)	negative look-ahead</a:t>
            </a:r>
          </a:p>
          <a:p>
            <a:pPr lvl="1"/>
            <a:r>
              <a:rPr lang="en-GB" dirty="0"/>
              <a:t>(?&lt;=pattern)	positive look-behind</a:t>
            </a:r>
          </a:p>
          <a:p>
            <a:pPr lvl="1"/>
            <a:r>
              <a:rPr lang="en-GB" dirty="0"/>
              <a:t>(?&lt;!pattern)	negative look-behind</a:t>
            </a:r>
          </a:p>
          <a:p>
            <a:r>
              <a:rPr lang="en-GB" dirty="0"/>
              <a:t>In the first example, without look-</a:t>
            </a:r>
            <a:r>
              <a:rPr lang="en-GB" dirty="0" err="1"/>
              <a:t>arounds</a:t>
            </a:r>
            <a:r>
              <a:rPr lang="en-GB" dirty="0"/>
              <a:t>, we have a parentheses group which captures the header number part of the tag, and then uses a back-reference \1 to match the same header. The RE is enclosed in ! because we have a literal / as part of the pattern. This matches the HTML statement, including the tags.</a:t>
            </a:r>
          </a:p>
          <a:p>
            <a:r>
              <a:rPr lang="en-GB" dirty="0"/>
              <a:t>The second example looks behind for the first tag and looks ahead for the second. The value of \1 is not affected by the extra parentheses groups. This time the tags are not included in the match.</a:t>
            </a:r>
          </a:p>
          <a:p>
            <a:r>
              <a:rPr lang="en-GB" dirty="0"/>
              <a:t>Look-behinds can be a performance overhead in Python. Unusually, there is a  restriction with the Python regular expression engine - it (currently) does not support variable length look-behinds. This restriction is shared with Perl and Ruby, but Java and </a:t>
            </a:r>
            <a:r>
              <a:rPr lang="en-GB" dirty="0" err="1"/>
              <a:t>PCRE</a:t>
            </a:r>
            <a:r>
              <a:rPr lang="en-GB" dirty="0"/>
              <a:t> do allow the patterns to be variable lengths. Other engines (and earlier versions) do not allow alternation in look-behinds. Look-</a:t>
            </a:r>
            <a:r>
              <a:rPr lang="en-GB" dirty="0" err="1"/>
              <a:t>aheads</a:t>
            </a:r>
            <a:r>
              <a:rPr lang="en-GB" dirty="0"/>
              <a:t> have no such restrictions.</a:t>
            </a:r>
          </a:p>
          <a:p>
            <a:endParaRPr lang="en-GB" dirty="0"/>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6328528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This RE uses an alternation | and each side must be grouped. We don't want to capture them, so </a:t>
            </a:r>
            <a:r>
              <a:rPr lang="en-GB" dirty="0">
                <a:latin typeface="Courier New" pitchFamily="49" charset="0"/>
                <a:cs typeface="Courier New" pitchFamily="49" charset="0"/>
              </a:rPr>
              <a:t>(?: ... )</a:t>
            </a:r>
            <a:r>
              <a:rPr lang="en-GB" dirty="0"/>
              <a:t>. </a:t>
            </a:r>
          </a:p>
          <a:p>
            <a:r>
              <a:rPr lang="en-GB" dirty="0"/>
              <a:t>The actual substitution is executed code and it uses the capture generated in the match. </a:t>
            </a:r>
          </a:p>
          <a:p>
            <a:r>
              <a:rPr lang="en-GB" dirty="0"/>
              <a:t>Finally, the</a:t>
            </a:r>
            <a:r>
              <a:rPr lang="en-GB" b="1" dirty="0">
                <a:latin typeface="Courier New" pitchFamily="49" charset="0"/>
                <a:cs typeface="Courier New" pitchFamily="49" charset="0"/>
              </a:rPr>
              <a:t> </a:t>
            </a:r>
            <a:r>
              <a:rPr lang="en-GB" b="1" dirty="0" err="1">
                <a:latin typeface="Courier New" pitchFamily="49" charset="0"/>
                <a:cs typeface="Courier New" pitchFamily="49" charset="0"/>
              </a:rPr>
              <a:t>re.X</a:t>
            </a:r>
            <a:r>
              <a:rPr lang="en-GB" b="1" dirty="0">
                <a:latin typeface="Courier New" pitchFamily="49" charset="0"/>
                <a:cs typeface="Courier New" pitchFamily="49" charset="0"/>
              </a:rPr>
              <a:t> </a:t>
            </a:r>
            <a:r>
              <a:rPr lang="en-GB" dirty="0"/>
              <a:t>modifier allows us to split the RE over two lines to fit it on the slide!</a:t>
            </a:r>
          </a:p>
        </p:txBody>
      </p:sp>
    </p:spTree>
    <p:extLst>
      <p:ext uri="{BB962C8B-B14F-4D97-AF65-F5344CB8AC3E}">
        <p14:creationId xmlns:p14="http://schemas.microsoft.com/office/powerpoint/2010/main" val="2455998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238223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
        <p:nvSpPr>
          <p:cNvPr id="2" name="Slide Number Placeholder 5">
            <a:extLst>
              <a:ext uri="{FF2B5EF4-FFF2-40B4-BE49-F238E27FC236}">
                <a16:creationId xmlns:a16="http://schemas.microsoft.com/office/drawing/2014/main" id="{5DBA3842-0A53-AE38-A411-B3138CE858C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DF27A4BE-B28C-692F-9F0E-53EDD029F6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19668269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497907" y="1635699"/>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497907" y="4372335"/>
            <a:ext cx="6604609" cy="709613"/>
          </a:xfrm>
        </p:spPr>
        <p:txBody>
          <a:bodyPr/>
          <a:lstStyle/>
          <a:p>
            <a:r>
              <a:rPr lang="en-GB" sz="2400" dirty="0">
                <a:solidFill>
                  <a:srgbClr val="004050"/>
                </a:solidFill>
                <a:latin typeface="+mn-lt"/>
              </a:rPr>
              <a:t>Appendix</a:t>
            </a:r>
          </a:p>
          <a:p>
            <a:r>
              <a:rPr lang="en-GB" sz="2400" b="1" dirty="0">
                <a:solidFill>
                  <a:srgbClr val="004050"/>
                </a:solidFill>
                <a:latin typeface="+mn-lt"/>
                <a:cs typeface="Arial" charset="0"/>
              </a:rPr>
              <a:t>Advanced Regular Expressions</a:t>
            </a:r>
            <a:endParaRPr lang="en-US" sz="2400" b="1" dirty="0">
              <a:solidFill>
                <a:srgbClr val="004050"/>
              </a:solidFill>
              <a:latin typeface="+mn-lt"/>
              <a:cs typeface="Arial" charset="0"/>
            </a:endParaRPr>
          </a:p>
        </p:txBody>
      </p:sp>
    </p:spTree>
    <p:extLst>
      <p:ext uri="{BB962C8B-B14F-4D97-AF65-F5344CB8AC3E}">
        <p14:creationId xmlns:p14="http://schemas.microsoft.com/office/powerpoint/2010/main" val="226165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quarter" idx="10"/>
          </p:nvPr>
        </p:nvSpPr>
        <p:spPr>
          <a:xfrm>
            <a:off x="269739" y="1349984"/>
            <a:ext cx="3558777" cy="2751998"/>
          </a:xfrm>
        </p:spPr>
        <p:txBody>
          <a:bodyPr/>
          <a:lstStyle/>
          <a:p>
            <a:r>
              <a:rPr lang="en-GB" dirty="0"/>
              <a:t>Advanced regular expressions</a:t>
            </a:r>
          </a:p>
        </p:txBody>
      </p:sp>
      <p:sp>
        <p:nvSpPr>
          <p:cNvPr id="2" name="Text Placeholder 1">
            <a:extLst>
              <a:ext uri="{FF2B5EF4-FFF2-40B4-BE49-F238E27FC236}">
                <a16:creationId xmlns:a16="http://schemas.microsoft.com/office/drawing/2014/main" id="{E7EFF672-8872-4A6D-B9CA-5E9D2B4790A8}"/>
              </a:ext>
            </a:extLst>
          </p:cNvPr>
          <p:cNvSpPr>
            <a:spLocks noGrp="1"/>
          </p:cNvSpPr>
          <p:nvPr>
            <p:ph type="body" sz="quarter" idx="15"/>
          </p:nvPr>
        </p:nvSpPr>
        <p:spPr/>
        <p:txBody>
          <a:bodyPr/>
          <a:lstStyle/>
          <a:p>
            <a:pPr marL="342900" indent="-342900">
              <a:buFont typeface="Arial" panose="020B0604020202020204" pitchFamily="34" charset="0"/>
              <a:buChar char="•"/>
            </a:pPr>
            <a:r>
              <a:rPr lang="en-GB" dirty="0"/>
              <a:t>Review</a:t>
            </a:r>
          </a:p>
          <a:p>
            <a:pPr marL="342900" indent="-342900">
              <a:buFont typeface="Arial" panose="020B0604020202020204" pitchFamily="34" charset="0"/>
              <a:buChar char="•"/>
            </a:pPr>
            <a:r>
              <a:rPr lang="en-GB" dirty="0"/>
              <a:t>Regular expression quoting</a:t>
            </a:r>
          </a:p>
          <a:p>
            <a:pPr marL="342900" indent="-342900">
              <a:buFont typeface="Arial" panose="020B0604020202020204" pitchFamily="34" charset="0"/>
              <a:buChar char="•"/>
            </a:pPr>
            <a:r>
              <a:rPr lang="en-GB" dirty="0"/>
              <a:t>Modifiers</a:t>
            </a:r>
          </a:p>
          <a:p>
            <a:pPr marL="342900" indent="-342900">
              <a:buFont typeface="Arial" panose="020B0604020202020204" pitchFamily="34" charset="0"/>
              <a:buChar char="•"/>
            </a:pPr>
            <a:r>
              <a:rPr lang="en-GB" dirty="0"/>
              <a:t>Side effect variables and capturing</a:t>
            </a:r>
          </a:p>
          <a:p>
            <a:pPr marL="342900" indent="-342900">
              <a:buFont typeface="Arial" panose="020B0604020202020204" pitchFamily="34" charset="0"/>
              <a:buChar char="•"/>
            </a:pPr>
            <a:r>
              <a:rPr lang="en-GB" dirty="0"/>
              <a:t>Minimal matches</a:t>
            </a:r>
          </a:p>
          <a:p>
            <a:pPr marL="342900" indent="-342900">
              <a:buFont typeface="Arial" panose="020B0604020202020204" pitchFamily="34" charset="0"/>
              <a:buChar char="•"/>
            </a:pPr>
            <a:r>
              <a:rPr lang="en-GB" dirty="0"/>
              <a:t>Multi-line matching</a:t>
            </a:r>
          </a:p>
          <a:p>
            <a:pPr marL="342900" indent="-342900">
              <a:buFont typeface="Arial" panose="020B0604020202020204" pitchFamily="34" charset="0"/>
              <a:buChar char="•"/>
            </a:pPr>
            <a:r>
              <a:rPr lang="en-GB" dirty="0"/>
              <a:t>Global matches</a:t>
            </a:r>
          </a:p>
          <a:p>
            <a:pPr marL="342900" indent="-342900">
              <a:buFont typeface="Arial" panose="020B0604020202020204" pitchFamily="34" charset="0"/>
              <a:buChar char="•"/>
            </a:pPr>
            <a:r>
              <a:rPr lang="en-GB" dirty="0"/>
              <a:t>Look-around assertions</a:t>
            </a:r>
          </a:p>
          <a:p>
            <a:pPr marL="342900" indent="-342900">
              <a:buFont typeface="Arial" panose="020B0604020202020204" pitchFamily="34" charset="0"/>
              <a:buChar char="•"/>
            </a:pPr>
            <a:r>
              <a:rPr lang="en-GB" dirty="0"/>
              <a:t>Substitution with interpolation</a:t>
            </a:r>
          </a:p>
          <a:p>
            <a:pPr marL="342900" indent="-342900">
              <a:buFont typeface="Arial" panose="020B0604020202020204" pitchFamily="34" charset="0"/>
              <a:buChar char="•"/>
            </a:pPr>
            <a:r>
              <a:rPr lang="en-GB" dirty="0"/>
              <a:t>Substitution with expressions</a:t>
            </a:r>
          </a:p>
          <a:p>
            <a:endParaRPr lang="en-GB" dirty="0"/>
          </a:p>
        </p:txBody>
      </p:sp>
      <p:pic>
        <p:nvPicPr>
          <p:cNvPr id="3" name="Graphic 31">
            <a:extLst>
              <a:ext uri="{FF2B5EF4-FFF2-40B4-BE49-F238E27FC236}">
                <a16:creationId xmlns:a16="http://schemas.microsoft.com/office/drawing/2014/main" id="{6475FEB9-73C1-A1C8-F66B-2534AEA110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96468259-2270-8CA0-3DBB-B0E19F731F80}"/>
              </a:ext>
            </a:extLst>
          </p:cNvPr>
          <p:cNvSpPr>
            <a:spLocks noGrp="1"/>
          </p:cNvSpPr>
          <p:nvPr>
            <p:ph type="sldNum" sz="quarter" idx="4"/>
          </p:nvPr>
        </p:nvSpPr>
        <p:spPr/>
        <p:txBody>
          <a:bodyPr/>
          <a:lstStyle/>
          <a:p>
            <a:fld id="{EF892D59-8F09-EF4B-AD6D-DA609442F868}" type="slidenum">
              <a:rPr lang="en-GB" smtClean="0"/>
              <a:pPr/>
              <a:t>2</a:t>
            </a:fld>
            <a:endParaRPr lang="en-GB" dirty="0"/>
          </a:p>
        </p:txBody>
      </p:sp>
    </p:spTree>
    <p:extLst>
      <p:ext uri="{BB962C8B-B14F-4D97-AF65-F5344CB8AC3E}">
        <p14:creationId xmlns:p14="http://schemas.microsoft.com/office/powerpoint/2010/main" val="322530856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62140" y="308632"/>
            <a:ext cx="11517818" cy="805001"/>
          </a:xfrm>
        </p:spPr>
        <p:txBody>
          <a:bodyPr/>
          <a:lstStyle/>
          <a:p>
            <a:pPr eaLnBrk="1" hangingPunct="1"/>
            <a:r>
              <a:rPr lang="en-GB" dirty="0"/>
              <a:t>Elementary extended RE meta-characters</a:t>
            </a:r>
          </a:p>
        </p:txBody>
      </p:sp>
      <p:sp>
        <p:nvSpPr>
          <p:cNvPr id="7171" name="AutoShape 4"/>
          <p:cNvSpPr>
            <a:spLocks noChangeArrowheads="1"/>
          </p:cNvSpPr>
          <p:nvPr/>
        </p:nvSpPr>
        <p:spPr bwMode="auto">
          <a:xfrm>
            <a:off x="1359243" y="1236019"/>
            <a:ext cx="6997273" cy="4910848"/>
          </a:xfrm>
          <a:prstGeom prst="roundRect">
            <a:avLst>
              <a:gd name="adj" fmla="val 16667"/>
            </a:avLst>
          </a:prstGeom>
          <a:solidFill>
            <a:schemeClr val="tx2">
              <a:lumMod val="20000"/>
              <a:lumOff val="80000"/>
            </a:schemeClr>
          </a:solidFill>
          <a:ln w="12700">
            <a:solidFill>
              <a:schemeClr val="tx1"/>
            </a:solidFill>
            <a:round/>
            <a:headEnd/>
            <a:tailEnd/>
          </a:ln>
        </p:spPr>
        <p:txBody>
          <a:bodyPr wrap="square" lIns="90488" tIns="44450" rIns="90488" bIns="44450">
            <a:spAutoFit/>
          </a:bodyPr>
          <a:lstStyle/>
          <a:p>
            <a:pPr>
              <a:spcBef>
                <a:spcPct val="5000"/>
              </a:spcBef>
            </a:pPr>
            <a:r>
              <a:rPr lang="en-GB" b="1" dirty="0">
                <a:solidFill>
                  <a:srgbClr val="0000FF"/>
                </a:solidFill>
                <a:latin typeface="Courier New" panose="02070309020205020404" pitchFamily="49" charset="0"/>
              </a:rPr>
              <a:t>.</a:t>
            </a:r>
            <a:r>
              <a:rPr lang="en-GB" b="1" dirty="0">
                <a:latin typeface="Courier New" pitchFamily="49" charset="0"/>
              </a:rPr>
              <a:t>		</a:t>
            </a:r>
            <a:r>
              <a:rPr lang="en-GB" b="1" dirty="0"/>
              <a:t>match any single character</a:t>
            </a:r>
            <a:endParaRPr lang="en-GB" b="1" dirty="0">
              <a:latin typeface="Courier New" pitchFamily="49" charset="0"/>
            </a:endParaRPr>
          </a:p>
          <a:p>
            <a:pPr>
              <a:spcBef>
                <a:spcPct val="5000"/>
              </a:spcBef>
            </a:pPr>
            <a:r>
              <a:rPr lang="en-GB" b="1" dirty="0">
                <a:solidFill>
                  <a:srgbClr val="0000FF"/>
                </a:solidFill>
                <a:latin typeface="Courier New" panose="02070309020205020404" pitchFamily="49" charset="0"/>
              </a:rPr>
              <a:t>[</a:t>
            </a:r>
            <a:r>
              <a:rPr lang="en-GB" b="1" dirty="0">
                <a:latin typeface="Courier New" panose="02070309020205020404" pitchFamily="49" charset="0"/>
              </a:rPr>
              <a:t>a-</a:t>
            </a:r>
            <a:r>
              <a:rPr lang="en-GB" b="1" dirty="0" err="1">
                <a:latin typeface="Courier New" panose="02070309020205020404" pitchFamily="49" charset="0"/>
              </a:rPr>
              <a:t>zA</a:t>
            </a:r>
            <a:r>
              <a:rPr lang="en-GB" b="1" dirty="0">
                <a:latin typeface="Courier New" panose="02070309020205020404" pitchFamily="49" charset="0"/>
              </a:rPr>
              <a:t>-Z</a:t>
            </a:r>
            <a:r>
              <a:rPr lang="en-GB" b="1" dirty="0">
                <a:solidFill>
                  <a:srgbClr val="0000FF"/>
                </a:solidFill>
                <a:latin typeface="Courier New" panose="02070309020205020404" pitchFamily="49" charset="0"/>
              </a:rPr>
              <a:t>]</a:t>
            </a:r>
            <a:r>
              <a:rPr lang="en-GB" b="1" dirty="0">
                <a:latin typeface="Courier New" pitchFamily="49" charset="0"/>
              </a:rPr>
              <a:t>	</a:t>
            </a:r>
            <a:r>
              <a:rPr lang="en-GB" b="1" dirty="0"/>
              <a:t>match any char in the </a:t>
            </a:r>
            <a:r>
              <a:rPr lang="en-GB" b="1" dirty="0">
                <a:latin typeface="Courier New" pitchFamily="49" charset="0"/>
              </a:rPr>
              <a:t>[…] </a:t>
            </a:r>
            <a:r>
              <a:rPr lang="en-GB" b="1" dirty="0"/>
              <a:t>set</a:t>
            </a:r>
            <a:endParaRPr lang="en-GB" b="1" dirty="0">
              <a:latin typeface="Courier New" pitchFamily="49" charset="0"/>
            </a:endParaRPr>
          </a:p>
          <a:p>
            <a:pPr>
              <a:spcBef>
                <a:spcPct val="5000"/>
              </a:spcBef>
            </a:pPr>
            <a:r>
              <a:rPr lang="en-GB" b="1" dirty="0">
                <a:solidFill>
                  <a:srgbClr val="0000FF"/>
                </a:solidFill>
                <a:latin typeface="Courier New" panose="02070309020205020404" pitchFamily="49" charset="0"/>
              </a:rPr>
              <a:t>[^</a:t>
            </a:r>
            <a:r>
              <a:rPr lang="en-GB" b="1" dirty="0">
                <a:latin typeface="Courier New" panose="02070309020205020404" pitchFamily="49" charset="0"/>
              </a:rPr>
              <a:t>a-</a:t>
            </a:r>
            <a:r>
              <a:rPr lang="en-GB" b="1" dirty="0" err="1">
                <a:latin typeface="Courier New" panose="02070309020205020404" pitchFamily="49" charset="0"/>
              </a:rPr>
              <a:t>zA</a:t>
            </a:r>
            <a:r>
              <a:rPr lang="en-GB" b="1" dirty="0">
                <a:latin typeface="Courier New" panose="02070309020205020404" pitchFamily="49" charset="0"/>
              </a:rPr>
              <a:t>-Z</a:t>
            </a:r>
            <a:r>
              <a:rPr lang="en-GB" b="1" dirty="0">
                <a:solidFill>
                  <a:srgbClr val="0000FF"/>
                </a:solidFill>
                <a:latin typeface="Courier New" panose="02070309020205020404" pitchFamily="49" charset="0"/>
              </a:rPr>
              <a:t>]</a:t>
            </a:r>
            <a:r>
              <a:rPr lang="en-GB" b="1" dirty="0">
                <a:latin typeface="Courier New" pitchFamily="49" charset="0"/>
              </a:rPr>
              <a:t>	</a:t>
            </a:r>
            <a:r>
              <a:rPr lang="en-GB" b="1" dirty="0"/>
              <a:t>match any char </a:t>
            </a:r>
            <a:r>
              <a:rPr lang="en-GB" b="1" i="1" dirty="0"/>
              <a:t>not</a:t>
            </a:r>
            <a:r>
              <a:rPr lang="en-GB" b="1" dirty="0"/>
              <a:t> in the </a:t>
            </a:r>
            <a:r>
              <a:rPr lang="en-GB" b="1" dirty="0">
                <a:latin typeface="Courier New" pitchFamily="49" charset="0"/>
              </a:rPr>
              <a:t>[…] </a:t>
            </a:r>
            <a:r>
              <a:rPr lang="en-GB" b="1" dirty="0"/>
              <a:t>set</a:t>
            </a:r>
          </a:p>
          <a:p>
            <a:pPr>
              <a:spcBef>
                <a:spcPct val="5000"/>
              </a:spcBef>
            </a:pPr>
            <a:endParaRPr lang="en-GB" b="1" dirty="0">
              <a:latin typeface="Courier New" pitchFamily="49" charset="0"/>
            </a:endParaRPr>
          </a:p>
          <a:p>
            <a:pPr>
              <a:spcBef>
                <a:spcPct val="5000"/>
              </a:spcBef>
            </a:pP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beginning of text</a:t>
            </a:r>
            <a:endParaRPr lang="en-GB" b="1" dirty="0">
              <a:latin typeface="Courier New" pitchFamily="49" charset="0"/>
            </a:endParaRPr>
          </a:p>
          <a:p>
            <a:pPr>
              <a:spcBef>
                <a:spcPct val="5000"/>
              </a:spcBef>
            </a:pP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end of text</a:t>
            </a:r>
          </a:p>
          <a:p>
            <a:pPr>
              <a:spcBef>
                <a:spcPct val="5000"/>
              </a:spcBef>
            </a:pPr>
            <a:endParaRPr lang="en-GB" b="1" dirty="0"/>
          </a:p>
          <a:p>
            <a:pPr>
              <a:spcBef>
                <a:spcPct val="5000"/>
              </a:spcBef>
            </a:pPr>
            <a:r>
              <a:rPr lang="en-GB" b="1" i="1" dirty="0">
                <a:latin typeface="Courier New" panose="02070309020205020404" pitchFamily="49" charset="0"/>
              </a:rPr>
              <a:t>x</a:t>
            </a: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0 or 1 occurrences of</a:t>
            </a:r>
            <a:r>
              <a:rPr lang="en-GB" b="1" dirty="0">
                <a:latin typeface="Courier New" pitchFamily="49" charset="0"/>
              </a:rPr>
              <a:t> </a:t>
            </a:r>
            <a:r>
              <a:rPr lang="en-GB" b="1" i="1" dirty="0">
                <a:latin typeface="Courier New" panose="02070309020205020404" pitchFamily="49" charset="0"/>
              </a:rPr>
              <a:t>x</a:t>
            </a:r>
            <a:endParaRPr lang="en-GB" b="1" dirty="0">
              <a:latin typeface="Courier New" panose="02070309020205020404" pitchFamily="49" charset="0"/>
            </a:endParaRPr>
          </a:p>
          <a:p>
            <a:pPr>
              <a:spcBef>
                <a:spcPct val="5000"/>
              </a:spcBef>
            </a:pPr>
            <a:r>
              <a:rPr lang="en-GB" b="1" i="1" dirty="0">
                <a:latin typeface="Courier New" panose="02070309020205020404" pitchFamily="49" charset="0"/>
              </a:rPr>
              <a:t>x</a:t>
            </a: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1 or more occurrences of</a:t>
            </a:r>
            <a:r>
              <a:rPr lang="en-GB" b="1" dirty="0">
                <a:latin typeface="Courier New" pitchFamily="49" charset="0"/>
              </a:rPr>
              <a:t> </a:t>
            </a:r>
            <a:r>
              <a:rPr lang="en-GB" b="1" i="1" dirty="0">
                <a:latin typeface="Courier New" panose="02070309020205020404" pitchFamily="49" charset="0"/>
              </a:rPr>
              <a:t>x</a:t>
            </a:r>
            <a:endParaRPr lang="en-GB" b="1" dirty="0">
              <a:latin typeface="Courier New" panose="02070309020205020404" pitchFamily="49" charset="0"/>
            </a:endParaRPr>
          </a:p>
          <a:p>
            <a:pPr>
              <a:spcBef>
                <a:spcPct val="5000"/>
              </a:spcBef>
            </a:pPr>
            <a:r>
              <a:rPr lang="en-GB" b="1" i="1" dirty="0">
                <a:latin typeface="Courier New" panose="02070309020205020404" pitchFamily="49" charset="0"/>
              </a:rPr>
              <a:t>x</a:t>
            </a: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0 or more occurrences of</a:t>
            </a:r>
            <a:r>
              <a:rPr lang="en-GB" b="1" dirty="0">
                <a:latin typeface="Courier New" pitchFamily="49" charset="0"/>
              </a:rPr>
              <a:t> </a:t>
            </a:r>
            <a:r>
              <a:rPr lang="en-GB" b="1" i="1" dirty="0">
                <a:latin typeface="Courier New" panose="02070309020205020404" pitchFamily="49" charset="0"/>
              </a:rPr>
              <a:t>x</a:t>
            </a:r>
            <a:endParaRPr lang="en-GB" b="1" dirty="0">
              <a:latin typeface="Courier New" panose="02070309020205020404" pitchFamily="49" charset="0"/>
            </a:endParaRPr>
          </a:p>
          <a:p>
            <a:pPr>
              <a:spcBef>
                <a:spcPct val="5000"/>
              </a:spcBef>
            </a:pPr>
            <a:r>
              <a:rPr lang="en-GB" b="1" i="1" dirty="0">
                <a:latin typeface="Courier New" panose="02070309020205020404" pitchFamily="49" charset="0"/>
              </a:rPr>
              <a:t>x</a:t>
            </a:r>
            <a:r>
              <a:rPr lang="en-GB" b="1" dirty="0">
                <a:solidFill>
                  <a:srgbClr val="0000FF"/>
                </a:solidFill>
                <a:latin typeface="Courier New" panose="02070309020205020404" pitchFamily="49" charset="0"/>
              </a:rPr>
              <a:t>{</a:t>
            </a:r>
            <a:r>
              <a:rPr lang="en-GB" b="1" i="1" dirty="0" err="1">
                <a:latin typeface="Courier New" panose="02070309020205020404" pitchFamily="49" charset="0"/>
              </a:rPr>
              <a:t>m</a:t>
            </a:r>
            <a:r>
              <a:rPr lang="en-GB" b="1" dirty="0" err="1">
                <a:solidFill>
                  <a:srgbClr val="0000FF"/>
                </a:solidFill>
                <a:latin typeface="Courier New" panose="02070309020205020404" pitchFamily="49" charset="0"/>
              </a:rPr>
              <a:t>,</a:t>
            </a:r>
            <a:r>
              <a:rPr lang="en-GB" b="1" i="1" dirty="0" err="1">
                <a:latin typeface="Courier New" panose="02070309020205020404" pitchFamily="49" charset="0"/>
              </a:rPr>
              <a:t>n</a:t>
            </a: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match between</a:t>
            </a:r>
            <a:r>
              <a:rPr lang="en-GB" b="1" dirty="0">
                <a:latin typeface="Courier New" pitchFamily="49" charset="0"/>
              </a:rPr>
              <a:t> </a:t>
            </a:r>
            <a:r>
              <a:rPr lang="en-GB" b="1" i="1" dirty="0">
                <a:latin typeface="Courier New" panose="02070309020205020404" pitchFamily="49" charset="0"/>
              </a:rPr>
              <a:t>m</a:t>
            </a:r>
            <a:r>
              <a:rPr lang="en-GB" b="1" dirty="0">
                <a:latin typeface="Courier New" pitchFamily="49" charset="0"/>
              </a:rPr>
              <a:t> </a:t>
            </a:r>
            <a:r>
              <a:rPr lang="en-GB" b="1" dirty="0"/>
              <a:t>and </a:t>
            </a:r>
            <a:r>
              <a:rPr lang="en-GB" b="1" i="1" dirty="0"/>
              <a:t>n</a:t>
            </a:r>
            <a:r>
              <a:rPr lang="en-GB" b="1" dirty="0">
                <a:latin typeface="Courier New" pitchFamily="49" charset="0"/>
              </a:rPr>
              <a:t> </a:t>
            </a:r>
            <a:r>
              <a:rPr lang="en-GB" b="1" i="1" dirty="0">
                <a:latin typeface="Courier New" panose="02070309020205020404" pitchFamily="49" charset="0"/>
              </a:rPr>
              <a:t>x</a:t>
            </a:r>
            <a:r>
              <a:rPr lang="en-GB" b="1" dirty="0">
                <a:latin typeface="Courier New" pitchFamily="49" charset="0"/>
              </a:rPr>
              <a:t>’s</a:t>
            </a:r>
          </a:p>
          <a:p>
            <a:pPr>
              <a:spcBef>
                <a:spcPct val="5000"/>
              </a:spcBef>
            </a:pPr>
            <a:endParaRPr lang="en-GB" b="1" dirty="0">
              <a:latin typeface="Courier New" pitchFamily="49" charset="0"/>
            </a:endParaRPr>
          </a:p>
          <a:p>
            <a:pPr>
              <a:spcBef>
                <a:spcPct val="5000"/>
              </a:spcBef>
            </a:pPr>
            <a:r>
              <a:rPr lang="en-GB" b="1" dirty="0" err="1">
                <a:latin typeface="Courier New" panose="02070309020205020404" pitchFamily="49" charset="0"/>
              </a:rPr>
              <a:t>abc</a:t>
            </a:r>
            <a:r>
              <a:rPr lang="en-GB" b="1" dirty="0">
                <a:latin typeface="Courier New" panose="02070309020205020404" pitchFamily="49" charset="0"/>
              </a:rPr>
              <a:t>		</a:t>
            </a:r>
            <a:r>
              <a:rPr lang="en-GB" b="1" dirty="0"/>
              <a:t>match</a:t>
            </a:r>
            <a:r>
              <a:rPr lang="en-GB" b="1" dirty="0">
                <a:latin typeface="Courier New" pitchFamily="49" charset="0"/>
              </a:rPr>
              <a:t> </a:t>
            </a:r>
            <a:r>
              <a:rPr lang="en-GB" b="1" dirty="0" err="1">
                <a:latin typeface="Courier New" panose="02070309020205020404" pitchFamily="49" charset="0"/>
              </a:rPr>
              <a:t>abc</a:t>
            </a:r>
            <a:endParaRPr lang="en-GB" b="1" dirty="0">
              <a:latin typeface="Courier New" panose="02070309020205020404" pitchFamily="49" charset="0"/>
            </a:endParaRPr>
          </a:p>
          <a:p>
            <a:pPr>
              <a:spcBef>
                <a:spcPct val="5000"/>
              </a:spcBef>
            </a:pPr>
            <a:endParaRPr lang="en-GB" b="1" dirty="0">
              <a:latin typeface="Courier New" panose="02070309020205020404" pitchFamily="49" charset="0"/>
            </a:endParaRPr>
          </a:p>
          <a:p>
            <a:pPr>
              <a:spcBef>
                <a:spcPct val="5000"/>
              </a:spcBef>
            </a:pPr>
            <a:r>
              <a:rPr lang="en-GB" b="1" dirty="0" err="1">
                <a:latin typeface="Courier New" panose="02070309020205020404" pitchFamily="49" charset="0"/>
              </a:rPr>
              <a:t>abc</a:t>
            </a:r>
            <a:r>
              <a:rPr lang="en-GB" b="1" dirty="0" err="1">
                <a:solidFill>
                  <a:srgbClr val="0000FF"/>
                </a:solidFill>
                <a:latin typeface="Courier New" panose="02070309020205020404" pitchFamily="49" charset="0"/>
              </a:rPr>
              <a:t>|</a:t>
            </a:r>
            <a:r>
              <a:rPr lang="en-GB" b="1" dirty="0" err="1">
                <a:latin typeface="Courier New" panose="02070309020205020404" pitchFamily="49" charset="0"/>
              </a:rPr>
              <a:t>xyz</a:t>
            </a:r>
            <a:r>
              <a:rPr lang="en-GB" b="1" dirty="0">
                <a:latin typeface="Courier New" panose="02070309020205020404" pitchFamily="49" charset="0"/>
              </a:rPr>
              <a:t>	</a:t>
            </a:r>
            <a:r>
              <a:rPr lang="en-GB" b="1" dirty="0"/>
              <a:t>match</a:t>
            </a:r>
            <a:r>
              <a:rPr lang="en-GB" b="1" dirty="0">
                <a:latin typeface="Courier New" pitchFamily="49" charset="0"/>
              </a:rPr>
              <a:t> </a:t>
            </a:r>
            <a:r>
              <a:rPr lang="en-GB" b="1" dirty="0" err="1">
                <a:latin typeface="Courier New" panose="02070309020205020404" pitchFamily="49" charset="0"/>
              </a:rPr>
              <a:t>abc</a:t>
            </a:r>
            <a:r>
              <a:rPr lang="en-GB" b="1" dirty="0">
                <a:latin typeface="Courier New" pitchFamily="49" charset="0"/>
              </a:rPr>
              <a:t> </a:t>
            </a:r>
            <a:r>
              <a:rPr lang="en-GB" b="1" dirty="0"/>
              <a:t>or</a:t>
            </a:r>
            <a:r>
              <a:rPr lang="en-GB" b="1" dirty="0">
                <a:latin typeface="Courier New" pitchFamily="49" charset="0"/>
              </a:rPr>
              <a:t> xyz</a:t>
            </a:r>
          </a:p>
        </p:txBody>
      </p:sp>
      <p:sp>
        <p:nvSpPr>
          <p:cNvPr id="7172" name="Text Box 5"/>
          <p:cNvSpPr txBox="1">
            <a:spLocks noChangeArrowheads="1"/>
          </p:cNvSpPr>
          <p:nvPr/>
        </p:nvSpPr>
        <p:spPr bwMode="auto">
          <a:xfrm>
            <a:off x="8300559" y="1664643"/>
            <a:ext cx="1384694"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a:t>Character</a:t>
            </a:r>
          </a:p>
          <a:p>
            <a:pPr>
              <a:spcBef>
                <a:spcPct val="0"/>
              </a:spcBef>
            </a:pPr>
            <a:r>
              <a:rPr lang="en-GB" sz="1800" b="1"/>
              <a:t>Classes</a:t>
            </a:r>
          </a:p>
        </p:txBody>
      </p:sp>
      <p:sp>
        <p:nvSpPr>
          <p:cNvPr id="7173" name="Text Box 6"/>
          <p:cNvSpPr txBox="1">
            <a:spLocks noChangeArrowheads="1"/>
          </p:cNvSpPr>
          <p:nvPr/>
        </p:nvSpPr>
        <p:spPr bwMode="auto">
          <a:xfrm>
            <a:off x="8409157" y="2771131"/>
            <a:ext cx="1230058"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a:t>Anchors</a:t>
            </a:r>
          </a:p>
        </p:txBody>
      </p:sp>
      <p:sp>
        <p:nvSpPr>
          <p:cNvPr id="7174" name="Text Box 7"/>
          <p:cNvSpPr txBox="1">
            <a:spLocks noChangeArrowheads="1"/>
          </p:cNvSpPr>
          <p:nvPr/>
        </p:nvSpPr>
        <p:spPr bwMode="auto">
          <a:xfrm>
            <a:off x="8353885" y="3787131"/>
            <a:ext cx="153933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a:t>Quantifiers</a:t>
            </a:r>
          </a:p>
        </p:txBody>
      </p:sp>
      <p:sp>
        <p:nvSpPr>
          <p:cNvPr id="7175" name="Text Box 8"/>
          <p:cNvSpPr txBox="1">
            <a:spLocks noChangeArrowheads="1"/>
          </p:cNvSpPr>
          <p:nvPr/>
        </p:nvSpPr>
        <p:spPr bwMode="auto">
          <a:xfrm>
            <a:off x="8317373" y="5474644"/>
            <a:ext cx="153933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a:t>Alternation</a:t>
            </a:r>
          </a:p>
        </p:txBody>
      </p:sp>
      <p:sp>
        <p:nvSpPr>
          <p:cNvPr id="3" name="Slide Number Placeholder 2">
            <a:extLst>
              <a:ext uri="{FF2B5EF4-FFF2-40B4-BE49-F238E27FC236}">
                <a16:creationId xmlns:a16="http://schemas.microsoft.com/office/drawing/2014/main" id="{DE4A5D32-051B-77C1-E2C6-2FD54EBD52D2}"/>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254310504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33860" y="352256"/>
            <a:ext cx="11517818" cy="805001"/>
          </a:xfrm>
        </p:spPr>
        <p:txBody>
          <a:bodyPr/>
          <a:lstStyle/>
          <a:p>
            <a:pPr eaLnBrk="1" hangingPunct="1"/>
            <a:r>
              <a:rPr lang="en-GB" dirty="0"/>
              <a:t>Regular expression objects</a:t>
            </a:r>
          </a:p>
        </p:txBody>
      </p:sp>
      <p:sp>
        <p:nvSpPr>
          <p:cNvPr id="8195"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latin typeface="Courier New" panose="02070309020205020404" pitchFamily="49" charset="0"/>
                <a:cs typeface="Courier New" panose="02070309020205020404" pitchFamily="49" charset="0"/>
              </a:rPr>
              <a:t>import re</a:t>
            </a:r>
            <a:r>
              <a:rPr lang="en-GB" b="1" dirty="0"/>
              <a:t> to use them</a:t>
            </a:r>
          </a:p>
          <a:p>
            <a:pPr marL="715963" lvl="1">
              <a:buFont typeface="Arial" panose="020B0604020202020204" pitchFamily="34" charset="0"/>
              <a:buChar char="•"/>
            </a:pPr>
            <a:r>
              <a:rPr lang="en-GB" dirty="0">
                <a:latin typeface="Courier New" panose="02070309020205020404" pitchFamily="49" charset="0"/>
                <a:cs typeface="Courier New" panose="02070309020205020404" pitchFamily="49" charset="0"/>
              </a:rPr>
              <a:t>compile</a:t>
            </a:r>
            <a:r>
              <a:rPr lang="en-GB" dirty="0"/>
              <a:t> compiles the RE for efficiency, returns a re object.</a:t>
            </a:r>
          </a:p>
          <a:p>
            <a:pPr marL="342900" indent="-342900">
              <a:buFont typeface="Arial" panose="020B0604020202020204" pitchFamily="34" charset="0"/>
              <a:buChar char="•"/>
            </a:pPr>
            <a:r>
              <a:rPr lang="en-GB" b="1" dirty="0"/>
              <a:t>We can search or match</a:t>
            </a:r>
          </a:p>
          <a:p>
            <a:pPr marL="715963" lvl="1">
              <a:buFont typeface="Arial" panose="020B0604020202020204" pitchFamily="34" charset="0"/>
              <a:buChar char="•"/>
            </a:pPr>
            <a:r>
              <a:rPr lang="en-GB" dirty="0">
                <a:latin typeface="Courier New" panose="02070309020205020404" pitchFamily="49" charset="0"/>
                <a:cs typeface="Courier New" panose="02070309020205020404" pitchFamily="49" charset="0"/>
              </a:rPr>
              <a:t>search</a:t>
            </a:r>
            <a:r>
              <a:rPr lang="en-GB" dirty="0"/>
              <a:t> searches for a pattern  - like conventional RE’s .</a:t>
            </a:r>
          </a:p>
          <a:p>
            <a:pPr marL="715963" lvl="1">
              <a:buFont typeface="Arial" panose="020B0604020202020204" pitchFamily="34" charset="0"/>
              <a:buChar char="•"/>
            </a:pPr>
            <a:r>
              <a:rPr lang="en-GB" dirty="0">
                <a:latin typeface="Courier New" panose="02070309020205020404" pitchFamily="49" charset="0"/>
                <a:cs typeface="Courier New" panose="02070309020205020404" pitchFamily="49" charset="0"/>
              </a:rPr>
              <a:t>match</a:t>
            </a:r>
            <a:r>
              <a:rPr lang="en-GB" dirty="0"/>
              <a:t> matches from the start of the string.</a:t>
            </a:r>
          </a:p>
          <a:p>
            <a:pPr marL="715963" lvl="1">
              <a:buFont typeface="Arial" panose="020B0604020202020204" pitchFamily="34" charset="0"/>
              <a:buChar char="•"/>
            </a:pPr>
            <a:r>
              <a:rPr lang="en-GB" dirty="0" err="1">
                <a:latin typeface="Courier New" panose="02070309020205020404" pitchFamily="49" charset="0"/>
                <a:cs typeface="Courier New" panose="02070309020205020404" pitchFamily="49" charset="0"/>
              </a:rPr>
              <a:t>fullmatch</a:t>
            </a:r>
            <a:r>
              <a:rPr lang="en-GB" dirty="0"/>
              <a:t> matches from the start to the end of the string (3.4).</a:t>
            </a:r>
          </a:p>
          <a:p>
            <a:pPr marL="342900" indent="-342900">
              <a:buFont typeface="Arial" panose="020B0604020202020204" pitchFamily="34" charset="0"/>
              <a:buChar char="•"/>
            </a:pPr>
            <a:r>
              <a:rPr lang="en-GB" b="1" dirty="0"/>
              <a:t>All return a </a:t>
            </a:r>
            <a:r>
              <a:rPr lang="en-GB" b="1" dirty="0" err="1"/>
              <a:t>MatchObject</a:t>
            </a:r>
            <a:r>
              <a:rPr lang="en-GB" b="1" dirty="0"/>
              <a:t>, or None (False)</a:t>
            </a:r>
          </a:p>
        </p:txBody>
      </p:sp>
      <p:sp>
        <p:nvSpPr>
          <p:cNvPr id="8196" name="Text Box 4"/>
          <p:cNvSpPr txBox="1">
            <a:spLocks noChangeArrowheads="1"/>
          </p:cNvSpPr>
          <p:nvPr/>
        </p:nvSpPr>
        <p:spPr bwMode="auto">
          <a:xfrm>
            <a:off x="1065083" y="4473744"/>
            <a:ext cx="7726363" cy="2032000"/>
          </a:xfrm>
          <a:prstGeom prst="rect">
            <a:avLst/>
          </a:prstGeom>
          <a:solidFill>
            <a:schemeClr val="tx2">
              <a:lumMod val="20000"/>
              <a:lumOff val="80000"/>
            </a:schemeClr>
          </a:solidFill>
          <a:ln w="12700">
            <a:solidFill>
              <a:schemeClr val="tx1"/>
            </a:solidFill>
            <a:miter lim="800000"/>
            <a:headEnd/>
            <a:tailEnd/>
          </a:ln>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testy = 'The quick brown fox jumps over the lazy dog'</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m = </a:t>
            </a:r>
            <a:r>
              <a:rPr lang="en-GB" sz="1800" b="1" dirty="0" err="1">
                <a:latin typeface="Courier New" panose="02070309020205020404" pitchFamily="49" charset="0"/>
                <a:cs typeface="Courier New" panose="02070309020205020404" pitchFamily="49" charset="0"/>
              </a:rPr>
              <a:t>re.search</a:t>
            </a:r>
            <a:r>
              <a:rPr lang="en-GB" sz="1800" dirty="0">
                <a:latin typeface="Courier New" panose="02070309020205020404" pitchFamily="49" charset="0"/>
                <a:cs typeface="Courier New" panose="02070309020205020404" pitchFamily="49" charset="0"/>
              </a:rPr>
              <a:t>(r"(</a:t>
            </a:r>
            <a:r>
              <a:rPr lang="en-GB" sz="1800" dirty="0" err="1">
                <a:latin typeface="Courier New" panose="02070309020205020404" pitchFamily="49" charset="0"/>
                <a:cs typeface="Courier New" panose="02070309020205020404" pitchFamily="49" charset="0"/>
              </a:rPr>
              <a:t>quick|slow</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fox|camel</a:t>
            </a:r>
            <a:r>
              <a:rPr lang="en-GB" sz="1800" dirty="0">
                <a:latin typeface="Courier New" panose="02070309020205020404" pitchFamily="49" charset="0"/>
                <a:cs typeface="Courier New" panose="02070309020205020404" pitchFamily="49" charset="0"/>
              </a:rPr>
              <a:t>)", testy)</a:t>
            </a:r>
          </a:p>
          <a:p>
            <a:pPr>
              <a:spcBef>
                <a:spcPct val="0"/>
              </a:spcBef>
            </a:pPr>
            <a:r>
              <a:rPr lang="en-GB" sz="1800" dirty="0">
                <a:latin typeface="Courier New" panose="02070309020205020404" pitchFamily="49" charset="0"/>
                <a:cs typeface="Courier New" panose="02070309020205020404" pitchFamily="49" charset="0"/>
              </a:rPr>
              <a:t>if m:</a:t>
            </a:r>
          </a:p>
          <a:p>
            <a:r>
              <a:rPr lang="en-GB" sz="1800" dirty="0">
                <a:latin typeface="Courier New" panose="02070309020205020404" pitchFamily="49" charset="0"/>
                <a:cs typeface="Courier New" panose="02070309020205020404" pitchFamily="49" charset="0"/>
              </a:rPr>
              <a:t>    print('Matched</a:t>
            </a:r>
            <a:r>
              <a:rPr lang="en-US" sz="1800" dirty="0">
                <a:latin typeface="Courier New" panose="02070309020205020404" pitchFamily="49" charset="0"/>
              </a:rPr>
              <a: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m.groups</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print('Starting at', </a:t>
            </a:r>
            <a:r>
              <a:rPr lang="en-GB" sz="1800" dirty="0" err="1">
                <a:latin typeface="Courier New" panose="02070309020205020404" pitchFamily="49" charset="0"/>
                <a:cs typeface="Courier New" panose="02070309020205020404" pitchFamily="49" charset="0"/>
              </a:rPr>
              <a:t>m.start</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print('Ending at', </a:t>
            </a:r>
            <a:r>
              <a:rPr lang="en-GB" sz="1800" dirty="0" err="1">
                <a:latin typeface="Courier New" panose="02070309020205020404" pitchFamily="49" charset="0"/>
                <a:cs typeface="Courier New" panose="02070309020205020404" pitchFamily="49" charset="0"/>
              </a:rPr>
              <a:t>m.end</a:t>
            </a:r>
            <a:r>
              <a:rPr lang="en-GB" sz="1800" dirty="0">
                <a:latin typeface="Courier New" panose="02070309020205020404" pitchFamily="49" charset="0"/>
                <a:cs typeface="Courier New" panose="02070309020205020404" pitchFamily="49" charset="0"/>
              </a:rPr>
              <a:t>())</a:t>
            </a:r>
          </a:p>
        </p:txBody>
      </p:sp>
      <p:sp>
        <p:nvSpPr>
          <p:cNvPr id="8197" name="TextBox 4"/>
          <p:cNvSpPr txBox="1">
            <a:spLocks noChangeArrowheads="1"/>
          </p:cNvSpPr>
          <p:nvPr/>
        </p:nvSpPr>
        <p:spPr bwMode="auto">
          <a:xfrm>
            <a:off x="6043483" y="5682249"/>
            <a:ext cx="3513138" cy="923925"/>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Matched ('quick', 'fox')</a:t>
            </a:r>
          </a:p>
          <a:p>
            <a:pPr>
              <a:spcBef>
                <a:spcPct val="0"/>
              </a:spcBef>
            </a:pPr>
            <a:r>
              <a:rPr lang="en-GB" sz="1800" dirty="0">
                <a:latin typeface="Courier New" panose="02070309020205020404" pitchFamily="49" charset="0"/>
                <a:cs typeface="Courier New" panose="02070309020205020404" pitchFamily="49" charset="0"/>
              </a:rPr>
              <a:t>Starting at 4</a:t>
            </a:r>
          </a:p>
          <a:p>
            <a:pPr>
              <a:spcBef>
                <a:spcPct val="0"/>
              </a:spcBef>
            </a:pPr>
            <a:r>
              <a:rPr lang="en-GB" sz="1800" dirty="0">
                <a:latin typeface="Courier New" panose="02070309020205020404" pitchFamily="49" charset="0"/>
                <a:cs typeface="Courier New" panose="02070309020205020404" pitchFamily="49" charset="0"/>
              </a:rPr>
              <a:t>Ending at 19</a:t>
            </a:r>
          </a:p>
        </p:txBody>
      </p:sp>
      <p:sp>
        <p:nvSpPr>
          <p:cNvPr id="2" name="Slide Number Placeholder 1">
            <a:extLst>
              <a:ext uri="{FF2B5EF4-FFF2-40B4-BE49-F238E27FC236}">
                <a16:creationId xmlns:a16="http://schemas.microsoft.com/office/drawing/2014/main" id="{B8A369C2-58DB-B903-66CF-F7876B49246B}"/>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2208875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96765" y="323395"/>
            <a:ext cx="11517818" cy="805001"/>
          </a:xfrm>
        </p:spPr>
        <p:txBody>
          <a:bodyPr/>
          <a:lstStyle/>
          <a:p>
            <a:pPr eaLnBrk="1" hangingPunct="1"/>
            <a:r>
              <a:rPr lang="en-GB" dirty="0"/>
              <a:t>Regular expression substitution</a:t>
            </a:r>
          </a:p>
        </p:txBody>
      </p:sp>
      <p:sp>
        <p:nvSpPr>
          <p:cNvPr id="9219" name="Rectangle 3"/>
          <p:cNvSpPr>
            <a:spLocks noGrp="1" noChangeArrowheads="1"/>
          </p:cNvSpPr>
          <p:nvPr>
            <p:ph idx="1"/>
          </p:nvPr>
        </p:nvSpPr>
        <p:spPr>
          <a:xfrm>
            <a:off x="426113" y="1213990"/>
            <a:ext cx="11516239" cy="4955354"/>
          </a:xfrm>
        </p:spPr>
        <p:txBody>
          <a:bodyPr/>
          <a:lstStyle/>
          <a:p>
            <a:pPr marL="342900" indent="-342900">
              <a:buFont typeface="Arial" panose="020B0604020202020204" pitchFamily="34" charset="0"/>
              <a:buChar char="•"/>
            </a:pPr>
            <a:r>
              <a:rPr lang="en-GB" dirty="0">
                <a:solidFill>
                  <a:srgbClr val="0000C8"/>
                </a:solidFill>
              </a:rPr>
              <a:t>sub</a:t>
            </a:r>
            <a:r>
              <a:rPr lang="en-GB" b="0" dirty="0">
                <a:latin typeface="Courier New" panose="02070309020205020404" pitchFamily="49" charset="0"/>
              </a:rPr>
              <a:t> </a:t>
            </a:r>
            <a:r>
              <a:rPr lang="en-GB" b="0" dirty="0"/>
              <a:t>returns the changed string</a:t>
            </a:r>
          </a:p>
          <a:p>
            <a:endParaRPr lang="en-GB" sz="800" b="0" dirty="0"/>
          </a:p>
          <a:p>
            <a:pPr lvl="2"/>
            <a:endParaRPr lang="en-GB" dirty="0"/>
          </a:p>
          <a:p>
            <a:pPr marL="342900" indent="-342900">
              <a:buFont typeface="Arial" panose="020B0604020202020204" pitchFamily="34" charset="0"/>
              <a:buChar char="•"/>
            </a:pPr>
            <a:r>
              <a:rPr lang="en-GB" dirty="0" err="1">
                <a:solidFill>
                  <a:srgbClr val="0000C8"/>
                </a:solidFill>
              </a:rPr>
              <a:t>subn</a:t>
            </a:r>
            <a:r>
              <a:rPr lang="en-GB" b="0" dirty="0"/>
              <a:t> returns a tuple: </a:t>
            </a:r>
            <a:r>
              <a:rPr lang="en-GB" dirty="0"/>
              <a:t>(</a:t>
            </a:r>
            <a:r>
              <a:rPr lang="en-GB" b="0" i="1" dirty="0"/>
              <a:t>changed string</a:t>
            </a:r>
            <a:r>
              <a:rPr lang="en-GB" dirty="0"/>
              <a:t>, </a:t>
            </a:r>
            <a:r>
              <a:rPr lang="en-GB" b="0" i="1" dirty="0"/>
              <a:t>number of changes</a:t>
            </a:r>
            <a:r>
              <a:rPr lang="en-GB" dirty="0"/>
              <a:t>)</a:t>
            </a:r>
          </a:p>
          <a:p>
            <a:endParaRPr lang="en-GB" sz="800" dirty="0"/>
          </a:p>
          <a:p>
            <a:pPr lvl="2"/>
            <a:endParaRPr lang="en-GB" b="1" dirty="0"/>
          </a:p>
          <a:p>
            <a:pPr marL="342900" indent="-342900">
              <a:buFont typeface="Arial" panose="020B0604020202020204" pitchFamily="34" charset="0"/>
              <a:buChar char="•"/>
            </a:pPr>
            <a:r>
              <a:rPr lang="en-GB" b="1" i="1" dirty="0"/>
              <a:t>count</a:t>
            </a:r>
            <a:r>
              <a:rPr lang="en-GB" b="1" dirty="0"/>
              <a:t> gives the number of replacements</a:t>
            </a:r>
          </a:p>
          <a:p>
            <a:pPr lvl="1">
              <a:buFont typeface="Arial" panose="020B0604020202020204" pitchFamily="34" charset="0"/>
              <a:buChar char="•"/>
            </a:pPr>
            <a:r>
              <a:rPr lang="en-GB" dirty="0"/>
              <a:t>Default is to replace </a:t>
            </a:r>
            <a:r>
              <a:rPr lang="en-GB" i="1" dirty="0"/>
              <a:t>all</a:t>
            </a:r>
            <a:r>
              <a:rPr lang="en-GB" dirty="0"/>
              <a:t> occurrences</a:t>
            </a:r>
          </a:p>
          <a:p>
            <a:pPr lvl="1"/>
            <a:endParaRPr lang="en-GB" dirty="0"/>
          </a:p>
          <a:p>
            <a:pPr lvl="1"/>
            <a:endParaRPr lang="en-GB" dirty="0"/>
          </a:p>
          <a:p>
            <a:pPr lvl="1"/>
            <a:endParaRPr lang="en-GB" dirty="0"/>
          </a:p>
          <a:p>
            <a:pPr lvl="1">
              <a:buFontTx/>
              <a:buNone/>
            </a:pPr>
            <a:endParaRPr lang="en-GB" dirty="0"/>
          </a:p>
          <a:p>
            <a:pPr lvl="1">
              <a:buFontTx/>
              <a:buNone/>
            </a:pPr>
            <a:endParaRPr lang="en-GB" dirty="0"/>
          </a:p>
        </p:txBody>
      </p:sp>
      <p:sp>
        <p:nvSpPr>
          <p:cNvPr id="9220" name="Text Box 4"/>
          <p:cNvSpPr txBox="1">
            <a:spLocks noChangeArrowheads="1"/>
          </p:cNvSpPr>
          <p:nvPr/>
        </p:nvSpPr>
        <p:spPr bwMode="auto">
          <a:xfrm>
            <a:off x="1070275" y="4134580"/>
            <a:ext cx="6780212" cy="2154237"/>
          </a:xfrm>
          <a:prstGeom prst="rect">
            <a:avLst/>
          </a:prstGeom>
          <a:solidFill>
            <a:schemeClr val="tx2">
              <a:lumMod val="20000"/>
              <a:lumOff val="80000"/>
            </a:schemeClr>
          </a:solidFill>
          <a:ln w="12700">
            <a:solidFill>
              <a:schemeClr val="tx1"/>
            </a:solidFill>
            <a:miter lim="800000"/>
            <a:headEnd/>
            <a:tailEnd/>
          </a:ln>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line = 'Perl for Perl Programmers'</a:t>
            </a:r>
          </a:p>
          <a:p>
            <a:pPr>
              <a:spcBef>
                <a:spcPct val="0"/>
              </a:spcBef>
            </a:pPr>
            <a:r>
              <a:rPr lang="en-GB" sz="1800" dirty="0">
                <a:latin typeface="Courier New" panose="02070309020205020404" pitchFamily="49" charset="0"/>
              </a:rPr>
              <a:t>txt = </a:t>
            </a:r>
            <a:r>
              <a:rPr lang="en-GB" sz="1800" dirty="0" err="1">
                <a:latin typeface="Courier New" panose="02070309020205020404" pitchFamily="49" charset="0"/>
              </a:rPr>
              <a:t>re.subn</a:t>
            </a:r>
            <a:r>
              <a:rPr lang="en-GB" sz="1800" dirty="0">
                <a:latin typeface="Courier New" panose="02070309020205020404" pitchFamily="49" charset="0"/>
              </a:rPr>
              <a:t>('Perl', 'Python', line)</a:t>
            </a:r>
          </a:p>
          <a:p>
            <a:pPr>
              <a:spcBef>
                <a:spcPct val="0"/>
              </a:spcBef>
            </a:pPr>
            <a:r>
              <a:rPr lang="en-GB" sz="1800" dirty="0">
                <a:latin typeface="Courier New" panose="02070309020205020404" pitchFamily="49" charset="0"/>
              </a:rPr>
              <a:t>if txt[1]:</a:t>
            </a:r>
          </a:p>
          <a:p>
            <a:pPr>
              <a:spcBef>
                <a:spcPct val="0"/>
              </a:spcBef>
            </a:pPr>
            <a:r>
              <a:rPr lang="en-GB" sz="1800" dirty="0">
                <a:latin typeface="Courier New" panose="02070309020205020404" pitchFamily="49" charset="0"/>
              </a:rPr>
              <a:t>    print(txt[0])</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txt = </a:t>
            </a:r>
            <a:r>
              <a:rPr lang="en-GB" sz="1800" dirty="0" err="1">
                <a:latin typeface="Courier New" panose="02070309020205020404" pitchFamily="49" charset="0"/>
              </a:rPr>
              <a:t>re.subn</a:t>
            </a:r>
            <a:r>
              <a:rPr lang="en-GB" sz="1800" dirty="0">
                <a:latin typeface="Courier New" panose="02070309020205020404" pitchFamily="49" charset="0"/>
              </a:rPr>
              <a:t>('Perl', 'Python', line, </a:t>
            </a:r>
            <a:r>
              <a:rPr lang="en-GB" sz="1800" b="1" dirty="0">
                <a:latin typeface="Courier New" panose="02070309020205020404" pitchFamily="49" charset="0"/>
              </a:rPr>
              <a:t>1</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if txt[1]:</a:t>
            </a:r>
          </a:p>
          <a:p>
            <a:pPr>
              <a:spcBef>
                <a:spcPct val="0"/>
              </a:spcBef>
            </a:pPr>
            <a:r>
              <a:rPr lang="en-GB" sz="1800" dirty="0">
                <a:latin typeface="Courier New" panose="02070309020205020404" pitchFamily="49" charset="0"/>
              </a:rPr>
              <a:t>    print(txt[0])</a:t>
            </a:r>
          </a:p>
        </p:txBody>
      </p:sp>
      <p:sp>
        <p:nvSpPr>
          <p:cNvPr id="8" name="TextBox 7"/>
          <p:cNvSpPr txBox="1"/>
          <p:nvPr/>
        </p:nvSpPr>
        <p:spPr>
          <a:xfrm>
            <a:off x="915759" y="1672427"/>
            <a:ext cx="7907934" cy="400110"/>
          </a:xfrm>
          <a:prstGeom prst="rect">
            <a:avLst/>
          </a:prstGeom>
          <a:noFill/>
        </p:spPr>
        <p:txBody>
          <a:bodyPr wrap="none">
            <a:spAutoFit/>
          </a:bodyPr>
          <a:lstStyle/>
          <a:p>
            <a:pPr>
              <a:defRPr/>
            </a:pPr>
            <a:r>
              <a:rPr lang="en-GB" sz="2000" b="1" dirty="0">
                <a:latin typeface="Courier New" panose="02070309020205020404" pitchFamily="49" charset="0"/>
              </a:rPr>
              <a:t>re.sub</a:t>
            </a:r>
            <a:r>
              <a:rPr lang="en-GB" sz="2000" dirty="0">
                <a:latin typeface="Courier New" panose="02070309020205020404" pitchFamily="49" charset="0"/>
              </a:rPr>
              <a:t>(</a:t>
            </a:r>
            <a:r>
              <a:rPr lang="en-GB" sz="2000" i="1" dirty="0"/>
              <a:t>pattern</a:t>
            </a:r>
            <a:r>
              <a:rPr lang="en-GB" sz="2000" dirty="0">
                <a:latin typeface="Courier New" panose="02070309020205020404" pitchFamily="49" charset="0"/>
              </a:rPr>
              <a:t>, </a:t>
            </a:r>
            <a:r>
              <a:rPr lang="en-GB" sz="2000" i="1" dirty="0"/>
              <a:t>replacement</a:t>
            </a:r>
            <a:r>
              <a:rPr lang="en-GB" sz="2000" dirty="0">
                <a:latin typeface="Courier New" panose="02070309020205020404" pitchFamily="49" charset="0"/>
              </a:rPr>
              <a:t>, </a:t>
            </a:r>
            <a:r>
              <a:rPr lang="en-GB" sz="2000" i="1" dirty="0"/>
              <a:t>string</a:t>
            </a:r>
            <a:r>
              <a:rPr lang="en-GB" sz="2000" dirty="0">
                <a:latin typeface="Courier New" panose="02070309020205020404" pitchFamily="49" charset="0"/>
              </a:rPr>
              <a:t>[, </a:t>
            </a:r>
            <a:r>
              <a:rPr lang="en-GB" sz="2000" i="1" dirty="0"/>
              <a:t>count</a:t>
            </a:r>
            <a:r>
              <a:rPr lang="en-GB" sz="2000" dirty="0">
                <a:latin typeface="Courier New" panose="02070309020205020404" pitchFamily="49" charset="0"/>
              </a:rPr>
              <a:t>, </a:t>
            </a:r>
            <a:r>
              <a:rPr lang="en-GB" sz="2000" i="1" dirty="0"/>
              <a:t>flags</a:t>
            </a:r>
            <a:r>
              <a:rPr lang="en-GB" sz="2000" dirty="0">
                <a:latin typeface="Courier New" panose="02070309020205020404" pitchFamily="49" charset="0"/>
              </a:rPr>
              <a:t>]) </a:t>
            </a:r>
          </a:p>
        </p:txBody>
      </p:sp>
      <p:sp>
        <p:nvSpPr>
          <p:cNvPr id="9" name="TextBox 8"/>
          <p:cNvSpPr txBox="1"/>
          <p:nvPr/>
        </p:nvSpPr>
        <p:spPr>
          <a:xfrm>
            <a:off x="896765" y="2677894"/>
            <a:ext cx="8061822" cy="400110"/>
          </a:xfrm>
          <a:prstGeom prst="rect">
            <a:avLst/>
          </a:prstGeom>
          <a:noFill/>
        </p:spPr>
        <p:txBody>
          <a:bodyPr wrap="none">
            <a:spAutoFit/>
          </a:bodyPr>
          <a:lstStyle/>
          <a:p>
            <a:pPr>
              <a:defRPr/>
            </a:pPr>
            <a:r>
              <a:rPr lang="en-GB" sz="2000" b="1" dirty="0" err="1">
                <a:latin typeface="Courier New" panose="02070309020205020404" pitchFamily="49" charset="0"/>
              </a:rPr>
              <a:t>re.subn</a:t>
            </a:r>
            <a:r>
              <a:rPr lang="en-GB" sz="2000" dirty="0">
                <a:latin typeface="Courier New" panose="02070309020205020404" pitchFamily="49" charset="0"/>
              </a:rPr>
              <a:t>(</a:t>
            </a:r>
            <a:r>
              <a:rPr lang="en-GB" sz="2000" i="1" dirty="0"/>
              <a:t>pattern</a:t>
            </a:r>
            <a:r>
              <a:rPr lang="en-GB" sz="2000" dirty="0">
                <a:latin typeface="Courier New" panose="02070309020205020404" pitchFamily="49" charset="0"/>
              </a:rPr>
              <a:t>, </a:t>
            </a:r>
            <a:r>
              <a:rPr lang="en-GB" sz="2000" i="1" dirty="0"/>
              <a:t>replacement</a:t>
            </a:r>
            <a:r>
              <a:rPr lang="en-GB" sz="2000" dirty="0">
                <a:latin typeface="Courier New" panose="02070309020205020404" pitchFamily="49" charset="0"/>
              </a:rPr>
              <a:t>, </a:t>
            </a:r>
            <a:r>
              <a:rPr lang="en-GB" sz="2000" i="1" dirty="0"/>
              <a:t>string</a:t>
            </a:r>
            <a:r>
              <a:rPr lang="en-GB" sz="2000" dirty="0">
                <a:latin typeface="Courier New" panose="02070309020205020404" pitchFamily="49" charset="0"/>
              </a:rPr>
              <a:t>[, </a:t>
            </a:r>
            <a:r>
              <a:rPr lang="en-GB" sz="2000" i="1" dirty="0"/>
              <a:t>count</a:t>
            </a:r>
            <a:r>
              <a:rPr lang="en-GB" sz="2000" dirty="0">
                <a:latin typeface="Courier New" panose="02070309020205020404" pitchFamily="49" charset="0"/>
              </a:rPr>
              <a:t>, </a:t>
            </a:r>
            <a:r>
              <a:rPr lang="en-GB" sz="2000" i="1" dirty="0"/>
              <a:t>flags</a:t>
            </a:r>
            <a:r>
              <a:rPr lang="en-GB" sz="2000" dirty="0">
                <a:latin typeface="Courier New" panose="02070309020205020404" pitchFamily="49" charset="0"/>
              </a:rPr>
              <a:t>]) </a:t>
            </a:r>
          </a:p>
        </p:txBody>
      </p:sp>
      <p:sp>
        <p:nvSpPr>
          <p:cNvPr id="9223" name="TextBox 9"/>
          <p:cNvSpPr txBox="1">
            <a:spLocks noChangeArrowheads="1"/>
          </p:cNvSpPr>
          <p:nvPr/>
        </p:nvSpPr>
        <p:spPr bwMode="auto">
          <a:xfrm>
            <a:off x="4754863" y="6115780"/>
            <a:ext cx="4194175" cy="369887"/>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Python for Perl Programmers</a:t>
            </a:r>
          </a:p>
        </p:txBody>
      </p:sp>
      <p:sp>
        <p:nvSpPr>
          <p:cNvPr id="9224" name="TextBox 10"/>
          <p:cNvSpPr txBox="1">
            <a:spLocks noChangeArrowheads="1"/>
          </p:cNvSpPr>
          <p:nvPr/>
        </p:nvSpPr>
        <p:spPr bwMode="auto">
          <a:xfrm>
            <a:off x="4718350" y="4861654"/>
            <a:ext cx="4229100" cy="368300"/>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Python for Python Programmers</a:t>
            </a:r>
          </a:p>
        </p:txBody>
      </p:sp>
      <p:sp>
        <p:nvSpPr>
          <p:cNvPr id="2" name="Slide Number Placeholder 1">
            <a:extLst>
              <a:ext uri="{FF2B5EF4-FFF2-40B4-BE49-F238E27FC236}">
                <a16:creationId xmlns:a16="http://schemas.microsoft.com/office/drawing/2014/main" id="{E5617DC5-6A5B-2019-7D05-DDDDCB5BB7CA}"/>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313133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2714" y="298107"/>
            <a:ext cx="11517818" cy="805001"/>
          </a:xfrm>
        </p:spPr>
        <p:txBody>
          <a:bodyPr/>
          <a:lstStyle/>
          <a:p>
            <a:pPr eaLnBrk="1" hangingPunct="1"/>
            <a:r>
              <a:rPr lang="en-GB" dirty="0"/>
              <a:t>Compiled REs and RE objects</a:t>
            </a:r>
          </a:p>
        </p:txBody>
      </p:sp>
      <p:sp>
        <p:nvSpPr>
          <p:cNvPr id="7171"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t>We can compile for efficiency.</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We can also compile to obtain a re object.</a:t>
            </a:r>
          </a:p>
          <a:p>
            <a:pPr lvl="1">
              <a:buFont typeface="Arial" panose="020B0604020202020204" pitchFamily="34" charset="0"/>
              <a:buChar char="•"/>
            </a:pPr>
            <a:r>
              <a:rPr lang="en-GB" dirty="0"/>
              <a:t>Method call parameters are different!</a:t>
            </a:r>
          </a:p>
        </p:txBody>
      </p:sp>
      <p:sp>
        <p:nvSpPr>
          <p:cNvPr id="7172" name="Text Box 7"/>
          <p:cNvSpPr txBox="1">
            <a:spLocks noChangeArrowheads="1"/>
          </p:cNvSpPr>
          <p:nvPr/>
        </p:nvSpPr>
        <p:spPr bwMode="auto">
          <a:xfrm>
            <a:off x="1020894" y="2133643"/>
            <a:ext cx="6808787" cy="1477962"/>
          </a:xfrm>
          <a:prstGeom prst="rect">
            <a:avLst/>
          </a:prstGeom>
          <a:solidFill>
            <a:schemeClr val="tx2">
              <a:lumMod val="20000"/>
              <a:lumOff val="80000"/>
            </a:schemeClr>
          </a:solidFill>
          <a:ln w="12700">
            <a:solidFill>
              <a:schemeClr val="tx1"/>
            </a:solidFill>
            <a:miter lim="800000"/>
            <a:headEnd/>
            <a:tailEnd/>
          </a:ln>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reobj</a:t>
            </a:r>
            <a:r>
              <a:rPr lang="en-GB" sz="1800" dirty="0">
                <a:latin typeface="Courier New" panose="02070309020205020404" pitchFamily="49" charset="0"/>
              </a:rPr>
              <a:t> = </a:t>
            </a:r>
            <a:r>
              <a:rPr lang="en-GB" sz="1800" dirty="0" err="1">
                <a:latin typeface="Courier New" panose="02070309020205020404" pitchFamily="49" charset="0"/>
              </a:rPr>
              <a:t>re.compile</a:t>
            </a:r>
            <a:r>
              <a:rPr lang="en-GB" sz="1800" dirty="0">
                <a:latin typeface="Courier New" panose="02070309020205020404" pitchFamily="49" charset="0"/>
              </a:rPr>
              <a:t> (r"(I).*(\1)")</a:t>
            </a:r>
          </a:p>
          <a:p>
            <a:pPr>
              <a:spcBef>
                <a:spcPct val="0"/>
              </a:spcBef>
            </a:pPr>
            <a:r>
              <a:rPr lang="en-GB" sz="1800" dirty="0">
                <a:latin typeface="Courier New" panose="02070309020205020404" pitchFamily="49" charset="0"/>
              </a:rPr>
              <a:t>for line in file:</a:t>
            </a:r>
          </a:p>
          <a:p>
            <a:pPr>
              <a:spcBef>
                <a:spcPct val="0"/>
              </a:spcBef>
            </a:pPr>
            <a:r>
              <a:rPr lang="en-GB" sz="1800" dirty="0">
                <a:latin typeface="Courier New" panose="02070309020205020404" pitchFamily="49" charset="0"/>
              </a:rPr>
              <a:t>    m = </a:t>
            </a:r>
            <a:r>
              <a:rPr lang="en-GB" sz="1800" b="1" dirty="0" err="1">
                <a:latin typeface="Courier New" panose="02070309020205020404" pitchFamily="49" charset="0"/>
              </a:rPr>
              <a:t>reobj.match</a:t>
            </a:r>
            <a:r>
              <a:rPr lang="en-GB" sz="1800" dirty="0">
                <a:latin typeface="Courier New" panose="02070309020205020404" pitchFamily="49" charset="0"/>
              </a:rPr>
              <a:t>(line)</a:t>
            </a:r>
          </a:p>
          <a:p>
            <a:pPr>
              <a:spcBef>
                <a:spcPct val="0"/>
              </a:spcBef>
            </a:pPr>
            <a:r>
              <a:rPr lang="en-GB" sz="1800" dirty="0">
                <a:latin typeface="Courier New" panose="02070309020205020404" pitchFamily="49" charset="0"/>
              </a:rPr>
              <a:t>    if m:</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m.string</a:t>
            </a:r>
            <a:r>
              <a:rPr lang="en-GB" sz="1800" dirty="0">
                <a:latin typeface="Courier New" panose="02070309020205020404" pitchFamily="49" charset="0"/>
              </a:rPr>
              <a:t>[</a:t>
            </a:r>
            <a:r>
              <a:rPr lang="en-GB" sz="1800" dirty="0" err="1">
                <a:latin typeface="Courier New" panose="02070309020205020404" pitchFamily="49" charset="0"/>
              </a:rPr>
              <a:t>m.start</a:t>
            </a:r>
            <a:r>
              <a:rPr lang="en-GB" sz="1800" dirty="0">
                <a:latin typeface="Courier New" panose="02070309020205020404" pitchFamily="49" charset="0"/>
              </a:rPr>
              <a:t>():</a:t>
            </a:r>
            <a:r>
              <a:rPr lang="en-GB" sz="1800" dirty="0" err="1">
                <a:latin typeface="Courier New" panose="02070309020205020404" pitchFamily="49" charset="0"/>
              </a:rPr>
              <a:t>m.end</a:t>
            </a:r>
            <a:r>
              <a:rPr lang="en-GB" sz="1800"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D3A77342-DF48-6084-9846-4263FBE6F2A9}"/>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1828309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55038" y="289632"/>
            <a:ext cx="11517818" cy="805001"/>
          </a:xfrm>
        </p:spPr>
        <p:txBody>
          <a:bodyPr/>
          <a:lstStyle/>
          <a:p>
            <a:pPr eaLnBrk="1" hangingPunct="1"/>
            <a:r>
              <a:rPr lang="en-GB" dirty="0"/>
              <a:t>Flags</a:t>
            </a:r>
          </a:p>
        </p:txBody>
      </p:sp>
      <p:graphicFrame>
        <p:nvGraphicFramePr>
          <p:cNvPr id="930820" name="Group 4"/>
          <p:cNvGraphicFramePr>
            <a:graphicFrameLocks noGrp="1"/>
          </p:cNvGraphicFramePr>
          <p:nvPr>
            <p:ph idx="1"/>
            <p:extLst>
              <p:ext uri="{D42A27DB-BD31-4B8C-83A1-F6EECF244321}">
                <p14:modId xmlns:p14="http://schemas.microsoft.com/office/powerpoint/2010/main" val="681076380"/>
              </p:ext>
            </p:extLst>
          </p:nvPr>
        </p:nvGraphicFramePr>
        <p:xfrm>
          <a:off x="334961" y="1723597"/>
          <a:ext cx="11515726" cy="2389187"/>
        </p:xfrm>
        <a:graphic>
          <a:graphicData uri="http://schemas.openxmlformats.org/drawingml/2006/table">
            <a:tbl>
              <a:tblPr/>
              <a:tblGrid>
                <a:gridCol w="3019929">
                  <a:extLst>
                    <a:ext uri="{9D8B030D-6E8A-4147-A177-3AD203B41FA5}">
                      <a16:colId xmlns:a16="http://schemas.microsoft.com/office/drawing/2014/main" val="20000"/>
                    </a:ext>
                  </a:extLst>
                </a:gridCol>
                <a:gridCol w="1352676">
                  <a:extLst>
                    <a:ext uri="{9D8B030D-6E8A-4147-A177-3AD203B41FA5}">
                      <a16:colId xmlns:a16="http://schemas.microsoft.com/office/drawing/2014/main" val="20001"/>
                    </a:ext>
                  </a:extLst>
                </a:gridCol>
                <a:gridCol w="1168425">
                  <a:extLst>
                    <a:ext uri="{9D8B030D-6E8A-4147-A177-3AD203B41FA5}">
                      <a16:colId xmlns:a16="http://schemas.microsoft.com/office/drawing/2014/main" val="20002"/>
                    </a:ext>
                  </a:extLst>
                </a:gridCol>
                <a:gridCol w="5974696">
                  <a:extLst>
                    <a:ext uri="{9D8B030D-6E8A-4147-A177-3AD203B41FA5}">
                      <a16:colId xmlns:a16="http://schemas.microsoft.com/office/drawing/2014/main" val="20003"/>
                    </a:ext>
                  </a:extLst>
                </a:gridCol>
              </a:tblGrid>
              <a:tr h="344534">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1" i="0" u="none" strike="noStrike" cap="none" normalizeH="0" baseline="0" dirty="0">
                          <a:ln>
                            <a:noFill/>
                          </a:ln>
                          <a:solidFill>
                            <a:schemeClr val="tx1"/>
                          </a:solidFill>
                          <a:effectLst/>
                          <a:latin typeface="Arial" charset="0"/>
                        </a:rPr>
                        <a:t>Long name</a:t>
                      </a: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1" i="0" u="none" strike="noStrike" cap="none" normalizeH="0" baseline="0" dirty="0">
                          <a:ln>
                            <a:noFill/>
                          </a:ln>
                          <a:solidFill>
                            <a:schemeClr val="tx1"/>
                          </a:solidFill>
                          <a:effectLst/>
                          <a:latin typeface="Arial" charset="0"/>
                        </a:rPr>
                        <a:t>Short</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1" i="0" u="none" strike="noStrike" cap="none" normalizeH="0" baseline="0">
                          <a:ln>
                            <a:noFill/>
                          </a:ln>
                          <a:solidFill>
                            <a:schemeClr val="tx1"/>
                          </a:solidFill>
                          <a:effectLst/>
                          <a:latin typeface="Arial" charset="0"/>
                        </a:rPr>
                        <a:t>RE </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endParaRPr kumimoji="0" lang="en-US" sz="1600" b="1" i="0" u="none" strike="noStrike" cap="none" normalizeH="0" baseline="0" dirty="0">
                        <a:ln>
                          <a:noFill/>
                        </a:ln>
                        <a:solidFill>
                          <a:schemeClr val="tx1"/>
                        </a:solidFill>
                        <a:effectLst/>
                        <a:latin typeface="Arial" charset="0"/>
                      </a:endParaRP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336595">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re.ASCII</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re.A</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(?a)</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Arial" charset="0"/>
                        </a:rPr>
                        <a:t>Class shortcuts do not include Unicode</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335324">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re.IGNORECASE</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re.I</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a:t>
                      </a:r>
                      <a:r>
                        <a:rPr kumimoji="0" lang="en-GB" sz="1600" b="0" i="0" u="none" strike="noStrike" cap="none" normalizeH="0" baseline="0" dirty="0" err="1">
                          <a:ln>
                            <a:noFill/>
                          </a:ln>
                          <a:solidFill>
                            <a:schemeClr val="tx1"/>
                          </a:solidFill>
                          <a:effectLst/>
                          <a:latin typeface="Courier New" panose="02070309020205020404" pitchFamily="49" charset="0"/>
                        </a:rPr>
                        <a:t>i</a:t>
                      </a:r>
                      <a:r>
                        <a:rPr kumimoji="0" lang="en-GB" sz="1600" b="0" i="0" u="none" strike="noStrike" cap="none" normalizeH="0" baseline="0" dirty="0">
                          <a:ln>
                            <a:noFill/>
                          </a:ln>
                          <a:solidFill>
                            <a:schemeClr val="tx1"/>
                          </a:solidFill>
                          <a:effectLst/>
                          <a:latin typeface="Courier New" panose="02070309020205020404" pitchFamily="49" charset="0"/>
                        </a:rPr>
                        <a:t>)</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a:ln>
                            <a:noFill/>
                          </a:ln>
                          <a:solidFill>
                            <a:schemeClr val="tx1"/>
                          </a:solidFill>
                          <a:effectLst/>
                          <a:latin typeface="Arial" charset="0"/>
                        </a:rPr>
                        <a:t>Case insensitive match</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335324">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re.LOCALE</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re.L</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(?L)</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a:ln>
                            <a:noFill/>
                          </a:ln>
                          <a:solidFill>
                            <a:schemeClr val="tx1"/>
                          </a:solidFill>
                          <a:effectLst/>
                          <a:latin typeface="Arial" charset="0"/>
                        </a:rPr>
                        <a:t>Class shortcuts are locale sensitive</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335324">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re.MULTILINE</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re.M</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(?m)</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Arial" charset="0"/>
                        </a:rPr>
                        <a:t>^ and $ match start and end of </a:t>
                      </a:r>
                      <a:r>
                        <a:rPr kumimoji="0" lang="en-GB" sz="1600" b="0" i="1" u="none" strike="noStrike" cap="none" normalizeH="0" baseline="0" dirty="0">
                          <a:ln>
                            <a:noFill/>
                          </a:ln>
                          <a:solidFill>
                            <a:schemeClr val="tx1"/>
                          </a:solidFill>
                          <a:effectLst/>
                          <a:latin typeface="Arial" charset="0"/>
                        </a:rPr>
                        <a:t>line</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r h="335324">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re.DOTALL</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re.S</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(?s)</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Arial" charset="0"/>
                        </a:rPr>
                        <a:t>. also matches a new-line</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5"/>
                  </a:ext>
                </a:extLst>
              </a:tr>
              <a:tr h="366762">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re.VERBOSE</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err="1">
                          <a:ln>
                            <a:noFill/>
                          </a:ln>
                          <a:solidFill>
                            <a:schemeClr val="tx1"/>
                          </a:solidFill>
                          <a:effectLst/>
                          <a:latin typeface="Courier New" panose="02070309020205020404" pitchFamily="49" charset="0"/>
                        </a:rPr>
                        <a:t>re.X</a:t>
                      </a:r>
                      <a:endParaRPr kumimoji="0" lang="en-GB" sz="1600" b="0" i="0" u="none" strike="noStrike" cap="none" normalizeH="0" baseline="0" dirty="0">
                        <a:ln>
                          <a:noFill/>
                        </a:ln>
                        <a:solidFill>
                          <a:schemeClr val="tx1"/>
                        </a:solidFill>
                        <a:effectLst/>
                        <a:latin typeface="Courier New" panose="02070309020205020404" pitchFamily="49" charset="0"/>
                      </a:endParaRP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Courier New" panose="02070309020205020404" pitchFamily="49" charset="0"/>
                        </a:rPr>
                        <a:t>(?x)</a:t>
                      </a:r>
                    </a:p>
                  </a:txBody>
                  <a:tcPr marL="129426" marR="129426"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1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Arial" charset="0"/>
                        </a:rPr>
                        <a:t>Whitespace is ignored, allow comments</a:t>
                      </a:r>
                    </a:p>
                  </a:txBody>
                  <a:tcPr marL="129426" marR="129426"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6"/>
                  </a:ext>
                </a:extLst>
              </a:tr>
            </a:tbl>
          </a:graphicData>
        </a:graphic>
      </p:graphicFrame>
      <p:sp>
        <p:nvSpPr>
          <p:cNvPr id="8195" name="Rectangle 3"/>
          <p:cNvSpPr>
            <a:spLocks noGrp="1" noChangeArrowheads="1"/>
          </p:cNvSpPr>
          <p:nvPr>
            <p:ph type="body" sz="quarter" idx="4294967295"/>
          </p:nvPr>
        </p:nvSpPr>
        <p:spPr>
          <a:xfrm>
            <a:off x="341313" y="1249964"/>
            <a:ext cx="11715750" cy="5214937"/>
          </a:xfrm>
        </p:spPr>
        <p:txBody>
          <a:bodyPr/>
          <a:lstStyle/>
          <a:p>
            <a:pPr marL="342900" indent="-342900">
              <a:buFont typeface="Arial" panose="020B0604020202020204" pitchFamily="34" charset="0"/>
              <a:buChar char="•"/>
            </a:pPr>
            <a:r>
              <a:rPr lang="en-GB" b="1" dirty="0"/>
              <a:t>Change the behaviour of the match.</a:t>
            </a:r>
          </a:p>
          <a:p>
            <a:endParaRPr lang="en-GB" dirty="0"/>
          </a:p>
          <a:p>
            <a:endParaRPr lang="en-GB" dirty="0"/>
          </a:p>
          <a:p>
            <a:pPr lvl="1"/>
            <a:endParaRPr lang="en-GB" dirty="0"/>
          </a:p>
          <a:p>
            <a:pPr lvl="1"/>
            <a:endParaRPr lang="en-GB" dirty="0"/>
          </a:p>
          <a:p>
            <a:pPr lvl="1"/>
            <a:endParaRPr lang="en-GB" dirty="0"/>
          </a:p>
          <a:p>
            <a:endParaRPr lang="en-GB" dirty="0"/>
          </a:p>
          <a:p>
            <a:endParaRPr lang="en-GB" dirty="0"/>
          </a:p>
          <a:p>
            <a:pPr lvl="1">
              <a:buFont typeface="Arial" panose="020B0604020202020204" pitchFamily="34" charset="0"/>
              <a:buChar char="•"/>
            </a:pPr>
            <a:r>
              <a:rPr lang="en-GB" dirty="0"/>
              <a:t>May be embedded in the RE.</a:t>
            </a:r>
          </a:p>
          <a:p>
            <a:pPr lvl="1">
              <a:buFont typeface="Arial" panose="020B0604020202020204" pitchFamily="34" charset="0"/>
              <a:buChar char="•"/>
            </a:pPr>
            <a:r>
              <a:rPr lang="en-GB" dirty="0"/>
              <a:t>May be specified as an optional argument to:</a:t>
            </a:r>
          </a:p>
          <a:p>
            <a:pPr marL="631825" lvl="2">
              <a:buFont typeface="Arial" panose="020B0604020202020204" pitchFamily="34" charset="0"/>
              <a:buChar char="•"/>
            </a:pPr>
            <a:r>
              <a:rPr lang="en-GB" dirty="0" err="1"/>
              <a:t>re.search</a:t>
            </a:r>
            <a:r>
              <a:rPr lang="en-GB" dirty="0"/>
              <a:t>, </a:t>
            </a:r>
            <a:r>
              <a:rPr lang="en-GB" dirty="0" err="1"/>
              <a:t>re.match</a:t>
            </a:r>
            <a:r>
              <a:rPr lang="en-GB" dirty="0"/>
              <a:t>, and </a:t>
            </a:r>
            <a:r>
              <a:rPr lang="en-GB" dirty="0" err="1"/>
              <a:t>re.compile</a:t>
            </a:r>
            <a:r>
              <a:rPr lang="en-GB" dirty="0"/>
              <a:t> </a:t>
            </a:r>
          </a:p>
          <a:p>
            <a:pPr lvl="2">
              <a:buFont typeface="Arial" panose="020B0604020202020204" pitchFamily="34" charset="0"/>
              <a:buChar char="•"/>
            </a:pPr>
            <a:r>
              <a:rPr lang="en-GB" dirty="0"/>
              <a:t>Multiple flags may be combined.</a:t>
            </a:r>
          </a:p>
        </p:txBody>
      </p:sp>
      <p:sp>
        <p:nvSpPr>
          <p:cNvPr id="8238" name="Rectangle 46"/>
          <p:cNvSpPr>
            <a:spLocks noChangeArrowheads="1"/>
          </p:cNvSpPr>
          <p:nvPr/>
        </p:nvSpPr>
        <p:spPr bwMode="auto">
          <a:xfrm>
            <a:off x="341313" y="5970504"/>
            <a:ext cx="8165432" cy="650875"/>
          </a:xfrm>
          <a:prstGeom prst="rect">
            <a:avLst/>
          </a:prstGeom>
          <a:solidFill>
            <a:schemeClr val="tx2">
              <a:lumMod val="20000"/>
              <a:lumOff val="80000"/>
            </a:schemeClr>
          </a:solidFill>
          <a:ln w="12700">
            <a:solidFill>
              <a:schemeClr val="tx1"/>
            </a:solidFill>
            <a:miter lim="800000"/>
            <a:headEnd/>
            <a:tailEnd/>
          </a:ln>
          <a:effectLst/>
        </p:spPr>
        <p:txBody>
          <a:bodyPr wrap="square" lIns="90488" tIns="44450" rIns="90488" bIns="44450">
            <a:spAutoFit/>
          </a:bodyPr>
          <a:lstStyle/>
          <a:p>
            <a:pPr>
              <a:spcBef>
                <a:spcPct val="0"/>
              </a:spcBef>
            </a:pPr>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(r'</a:t>
            </a:r>
            <a:r>
              <a:rPr lang="en-GB" b="1" dirty="0">
                <a:latin typeface="Courier New" panose="02070309020205020404" pitchFamily="49" charset="0"/>
              </a:rPr>
              <a:t>(?</a:t>
            </a:r>
            <a:r>
              <a:rPr lang="en-GB" b="1" dirty="0" err="1">
                <a:latin typeface="Courier New" panose="02070309020205020404" pitchFamily="49" charset="0"/>
              </a:rPr>
              <a:t>im</a:t>
            </a:r>
            <a:r>
              <a:rPr lang="en-GB" b="1" dirty="0">
                <a:latin typeface="Courier New" panose="02070309020205020404" pitchFamily="49" charset="0"/>
              </a:rPr>
              <a:t>)^</a:t>
            </a:r>
            <a:r>
              <a:rPr lang="en-GB" dirty="0">
                <a:latin typeface="Courier New" panose="02070309020205020404" pitchFamily="49" charset="0"/>
              </a:rPr>
              <a:t>john’, name)</a:t>
            </a:r>
          </a:p>
          <a:p>
            <a:pPr>
              <a:spcBef>
                <a:spcPct val="0"/>
              </a:spcBef>
            </a:pPr>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a:t>
            </a:r>
            <a:r>
              <a:rPr lang="en-GB" dirty="0" err="1">
                <a:latin typeface="Courier New" panose="02070309020205020404" pitchFamily="49" charset="0"/>
              </a:rPr>
              <a:t>r'^john</a:t>
            </a:r>
            <a:r>
              <a:rPr lang="en-GB" dirty="0">
                <a:latin typeface="Courier New" panose="02070309020205020404" pitchFamily="49" charset="0"/>
              </a:rPr>
              <a:t>’, name, </a:t>
            </a:r>
            <a:r>
              <a:rPr lang="en-GB" b="1" dirty="0" err="1">
                <a:latin typeface="Courier New" panose="02070309020205020404" pitchFamily="49" charset="0"/>
              </a:rPr>
              <a:t>re.IGNORECASE|re.MULTILINE</a:t>
            </a:r>
            <a:r>
              <a:rPr lang="en-GB" dirty="0">
                <a:latin typeface="Courier New" panose="02070309020205020404" pitchFamily="49" charset="0"/>
              </a:rPr>
              <a:t>)</a:t>
            </a:r>
            <a:endParaRPr lang="pl-PL"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C8B2AD72-6B25-5D9C-67BE-9291D68E9A0B}"/>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2323527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011326" y="323977"/>
            <a:ext cx="11517818" cy="805001"/>
          </a:xfrm>
        </p:spPr>
        <p:txBody>
          <a:bodyPr/>
          <a:lstStyle/>
          <a:p>
            <a:r>
              <a:rPr lang="en-GB" dirty="0"/>
              <a:t>Global matches</a:t>
            </a:r>
          </a:p>
        </p:txBody>
      </p:sp>
      <p:sp>
        <p:nvSpPr>
          <p:cNvPr id="18435" name="Content Placeholder 2"/>
          <p:cNvSpPr>
            <a:spLocks noGrp="1"/>
          </p:cNvSpPr>
          <p:nvPr>
            <p:ph idx="1"/>
          </p:nvPr>
        </p:nvSpPr>
        <p:spPr>
          <a:xfrm>
            <a:off x="391463" y="1128978"/>
            <a:ext cx="11516239" cy="4955354"/>
          </a:xfrm>
        </p:spPr>
        <p:txBody>
          <a:bodyPr/>
          <a:lstStyle/>
          <a:p>
            <a:r>
              <a:rPr lang="en-GB" b="1" dirty="0" err="1"/>
              <a:t>re.findall</a:t>
            </a:r>
            <a:endParaRPr lang="en-GB" b="1" dirty="0"/>
          </a:p>
          <a:p>
            <a:pPr marL="800100" lvl="1" indent="-342900">
              <a:buFont typeface="Arial" panose="020B0604020202020204" pitchFamily="34" charset="0"/>
              <a:buChar char="•"/>
            </a:pPr>
            <a:r>
              <a:rPr lang="en-GB" dirty="0"/>
              <a:t>Returns a list of matches or groups.</a:t>
            </a:r>
          </a:p>
          <a:p>
            <a:pPr marL="742950" lvl="1" indent="-285750"/>
            <a:endParaRPr lang="en-GB" dirty="0"/>
          </a:p>
          <a:p>
            <a:pPr marL="742950" lvl="1" indent="-285750"/>
            <a:endParaRPr lang="en-GB" dirty="0"/>
          </a:p>
          <a:p>
            <a:pPr marL="1143000" lvl="2" indent="-228600"/>
            <a:endParaRPr lang="en-GB" dirty="0"/>
          </a:p>
          <a:p>
            <a:pPr marL="1143000" lvl="2" indent="-228600"/>
            <a:endParaRPr lang="en-GB" dirty="0"/>
          </a:p>
          <a:p>
            <a:r>
              <a:rPr lang="en-GB" b="1" dirty="0" err="1"/>
              <a:t>re.finditer</a:t>
            </a:r>
            <a:endParaRPr lang="en-GB" b="1" dirty="0"/>
          </a:p>
          <a:p>
            <a:pPr marL="800100" lvl="1" indent="-342900">
              <a:buFont typeface="Arial" panose="020B0604020202020204" pitchFamily="34" charset="0"/>
              <a:buChar char="•"/>
            </a:pPr>
            <a:r>
              <a:rPr lang="en-GB" dirty="0"/>
              <a:t>Returns an iterator to a match object.</a:t>
            </a:r>
          </a:p>
        </p:txBody>
      </p:sp>
      <p:sp>
        <p:nvSpPr>
          <p:cNvPr id="18436" name="Text Box 5"/>
          <p:cNvSpPr txBox="1">
            <a:spLocks noChangeArrowheads="1"/>
          </p:cNvSpPr>
          <p:nvPr/>
        </p:nvSpPr>
        <p:spPr bwMode="auto">
          <a:xfrm>
            <a:off x="1032592" y="2022730"/>
            <a:ext cx="7237413" cy="925513"/>
          </a:xfrm>
          <a:prstGeom prst="rect">
            <a:avLst/>
          </a:prstGeom>
          <a:solidFill>
            <a:schemeClr val="tx2">
              <a:lumMod val="20000"/>
              <a:lumOff val="80000"/>
            </a:schemeClr>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str</a:t>
            </a:r>
            <a:r>
              <a:rPr lang="en-GB" sz="1800" dirty="0">
                <a:latin typeface="Courier New" panose="02070309020205020404" pitchFamily="49" charset="0"/>
              </a:rPr>
              <a:t>='/</a:t>
            </a:r>
            <a:r>
              <a:rPr lang="en-GB" sz="1800" dirty="0" err="1">
                <a:latin typeface="Courier New" panose="02070309020205020404" pitchFamily="49" charset="0"/>
              </a:rPr>
              <a:t>dev</a:t>
            </a:r>
            <a:r>
              <a:rPr lang="en-GB" sz="1800" dirty="0">
                <a:latin typeface="Courier New" panose="02070309020205020404" pitchFamily="49" charset="0"/>
              </a:rPr>
              <a:t>/sd3d 135398 69683 52176 57% /home/stuff'</a:t>
            </a:r>
          </a:p>
          <a:p>
            <a:pPr>
              <a:spcBef>
                <a:spcPct val="0"/>
              </a:spcBef>
            </a:pPr>
            <a:r>
              <a:rPr lang="en-GB" sz="1800" dirty="0" err="1">
                <a:latin typeface="Courier New" panose="02070309020205020404" pitchFamily="49" charset="0"/>
              </a:rPr>
              <a:t>nums</a:t>
            </a:r>
            <a:r>
              <a:rPr lang="en-GB" sz="1800" dirty="0">
                <a:latin typeface="Courier New" panose="02070309020205020404" pitchFamily="49" charset="0"/>
              </a:rPr>
              <a:t> = </a:t>
            </a:r>
            <a:r>
              <a:rPr lang="en-GB" sz="1800" dirty="0" err="1">
                <a:latin typeface="Courier New" panose="02070309020205020404" pitchFamily="49" charset="0"/>
              </a:rPr>
              <a:t>re.findall</a:t>
            </a:r>
            <a:r>
              <a:rPr lang="en-GB" sz="1800" dirty="0">
                <a:latin typeface="Courier New" panose="02070309020205020404" pitchFamily="49" charset="0"/>
              </a:rPr>
              <a:t>(r'\b\d+\b', </a:t>
            </a:r>
            <a:r>
              <a:rPr lang="en-GB" sz="1800" dirty="0" err="1">
                <a:latin typeface="Courier New" panose="02070309020205020404" pitchFamily="49" charset="0"/>
              </a:rPr>
              <a:t>str</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nums</a:t>
            </a:r>
            <a:r>
              <a:rPr lang="en-GB" sz="1800" dirty="0">
                <a:latin typeface="Courier New" panose="02070309020205020404" pitchFamily="49" charset="0"/>
              </a:rPr>
              <a:t>)</a:t>
            </a:r>
          </a:p>
        </p:txBody>
      </p:sp>
      <p:sp>
        <p:nvSpPr>
          <p:cNvPr id="18437" name="Text Box 6"/>
          <p:cNvSpPr txBox="1">
            <a:spLocks noChangeArrowheads="1"/>
          </p:cNvSpPr>
          <p:nvPr/>
        </p:nvSpPr>
        <p:spPr bwMode="auto">
          <a:xfrm>
            <a:off x="1021959" y="4301569"/>
            <a:ext cx="7237413" cy="1200150"/>
          </a:xfrm>
          <a:prstGeom prst="rect">
            <a:avLst/>
          </a:prstGeom>
          <a:solidFill>
            <a:schemeClr val="tx2">
              <a:lumMod val="20000"/>
              <a:lumOff val="80000"/>
            </a:schemeClr>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str</a:t>
            </a:r>
            <a:r>
              <a:rPr lang="en-GB" sz="1800" dirty="0">
                <a:latin typeface="Courier New" panose="02070309020205020404" pitchFamily="49" charset="0"/>
              </a:rPr>
              <a:t>='/</a:t>
            </a:r>
            <a:r>
              <a:rPr lang="en-GB" sz="1800" dirty="0" err="1">
                <a:latin typeface="Courier New" panose="02070309020205020404" pitchFamily="49" charset="0"/>
              </a:rPr>
              <a:t>dev</a:t>
            </a:r>
            <a:r>
              <a:rPr lang="en-GB" sz="1800" dirty="0">
                <a:latin typeface="Courier New" panose="02070309020205020404" pitchFamily="49" charset="0"/>
              </a:rPr>
              <a:t>/sd3d 135398 69683 52176 57% /home/stuff'</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num</a:t>
            </a:r>
            <a:r>
              <a:rPr lang="en-GB" sz="1800" dirty="0">
                <a:latin typeface="Courier New" panose="02070309020205020404" pitchFamily="49" charset="0"/>
              </a:rPr>
              <a:t> in </a:t>
            </a:r>
            <a:r>
              <a:rPr lang="en-GB" sz="1800" dirty="0" err="1">
                <a:latin typeface="Courier New" panose="02070309020205020404" pitchFamily="49" charset="0"/>
              </a:rPr>
              <a:t>re.finditer</a:t>
            </a:r>
            <a:r>
              <a:rPr lang="en-GB" sz="1800" dirty="0">
                <a:latin typeface="Courier New" panose="02070309020205020404" pitchFamily="49" charset="0"/>
              </a:rPr>
              <a:t>(r'\b(\d+)\b', </a:t>
            </a:r>
            <a:r>
              <a:rPr lang="en-GB" sz="1800" dirty="0" err="1">
                <a:latin typeface="Courier New" panose="02070309020205020404" pitchFamily="49" charset="0"/>
              </a:rPr>
              <a:t>str</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num.groups</a:t>
            </a:r>
            <a:r>
              <a:rPr lang="en-GB" sz="1800" dirty="0">
                <a:latin typeface="Courier New" panose="02070309020205020404" pitchFamily="49" charset="0"/>
              </a:rPr>
              <a:t>())</a:t>
            </a:r>
          </a:p>
        </p:txBody>
      </p:sp>
      <p:sp>
        <p:nvSpPr>
          <p:cNvPr id="18438" name="Text Box 7"/>
          <p:cNvSpPr txBox="1">
            <a:spLocks noChangeArrowheads="1"/>
          </p:cNvSpPr>
          <p:nvPr/>
        </p:nvSpPr>
        <p:spPr bwMode="auto">
          <a:xfrm>
            <a:off x="3715466" y="2867279"/>
            <a:ext cx="4889500" cy="376238"/>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['135398', '69683', '52176', '57']</a:t>
            </a:r>
          </a:p>
        </p:txBody>
      </p:sp>
      <p:sp>
        <p:nvSpPr>
          <p:cNvPr id="18439" name="Text Box 8"/>
          <p:cNvSpPr txBox="1">
            <a:spLocks noChangeArrowheads="1"/>
          </p:cNvSpPr>
          <p:nvPr/>
        </p:nvSpPr>
        <p:spPr bwMode="auto">
          <a:xfrm>
            <a:off x="3604821" y="5484257"/>
            <a:ext cx="4883150" cy="1200150"/>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('135398',)</a:t>
            </a:r>
          </a:p>
          <a:p>
            <a:pPr>
              <a:spcBef>
                <a:spcPct val="0"/>
              </a:spcBef>
            </a:pPr>
            <a:r>
              <a:rPr lang="en-GB" sz="1800" dirty="0">
                <a:latin typeface="Courier New" panose="02070309020205020404" pitchFamily="49" charset="0"/>
              </a:rPr>
              <a:t>('69683',)</a:t>
            </a:r>
          </a:p>
          <a:p>
            <a:pPr>
              <a:spcBef>
                <a:spcPct val="0"/>
              </a:spcBef>
            </a:pPr>
            <a:r>
              <a:rPr lang="en-GB" sz="1800" dirty="0">
                <a:latin typeface="Courier New" panose="02070309020205020404" pitchFamily="49" charset="0"/>
              </a:rPr>
              <a:t>('52176',)</a:t>
            </a:r>
          </a:p>
          <a:p>
            <a:pPr>
              <a:spcBef>
                <a:spcPct val="0"/>
              </a:spcBef>
            </a:pPr>
            <a:r>
              <a:rPr lang="en-GB" sz="1800" dirty="0">
                <a:latin typeface="Courier New" panose="02070309020205020404" pitchFamily="49" charset="0"/>
              </a:rPr>
              <a:t>('57',)</a:t>
            </a:r>
          </a:p>
        </p:txBody>
      </p:sp>
      <p:sp>
        <p:nvSpPr>
          <p:cNvPr id="2" name="Slide Number Placeholder 1">
            <a:extLst>
              <a:ext uri="{FF2B5EF4-FFF2-40B4-BE49-F238E27FC236}">
                <a16:creationId xmlns:a16="http://schemas.microsoft.com/office/drawing/2014/main" id="{DA16EE66-2051-9135-689B-2A062F9815AD}"/>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347612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12099" y="309706"/>
            <a:ext cx="11517818" cy="805001"/>
          </a:xfrm>
        </p:spPr>
        <p:txBody>
          <a:bodyPr/>
          <a:lstStyle/>
          <a:p>
            <a:pPr eaLnBrk="1" hangingPunct="1"/>
            <a:r>
              <a:rPr lang="en-US" dirty="0"/>
              <a:t>Back-references</a:t>
            </a:r>
          </a:p>
        </p:txBody>
      </p:sp>
      <p:sp>
        <p:nvSpPr>
          <p:cNvPr id="17411" name="Rectangle 3"/>
          <p:cNvSpPr>
            <a:spLocks noGrp="1" noChangeArrowheads="1"/>
          </p:cNvSpPr>
          <p:nvPr>
            <p:ph idx="1"/>
          </p:nvPr>
        </p:nvSpPr>
        <p:spPr/>
        <p:txBody>
          <a:bodyPr/>
          <a:lstStyle/>
          <a:p>
            <a:pPr marL="342900" indent="-342900">
              <a:buFont typeface="Arial" panose="020B0604020202020204" pitchFamily="34" charset="0"/>
              <a:buChar char="•"/>
            </a:pPr>
            <a:r>
              <a:rPr lang="en-US" b="1" dirty="0"/>
              <a:t>Python also allows ‘back-references’.</a:t>
            </a:r>
          </a:p>
          <a:p>
            <a:pPr marL="631825" lvl="1">
              <a:buFont typeface="Arial" panose="020B0604020202020204" pitchFamily="34" charset="0"/>
              <a:buChar char="•"/>
            </a:pPr>
            <a:r>
              <a:rPr lang="en-US" dirty="0"/>
              <a:t>To create self-referencing regular expressions.</a:t>
            </a:r>
          </a:p>
          <a:p>
            <a:pPr marL="342900" indent="-342900">
              <a:buFont typeface="Arial" panose="020B0604020202020204" pitchFamily="34" charset="0"/>
              <a:buChar char="•"/>
            </a:pPr>
            <a:r>
              <a:rPr lang="en-US" b="1" dirty="0"/>
              <a:t>Indicated by \</a:t>
            </a:r>
            <a:r>
              <a:rPr lang="en-US" b="1" i="1" dirty="0"/>
              <a:t>n</a:t>
            </a:r>
            <a:r>
              <a:rPr lang="en-US" b="1" dirty="0"/>
              <a:t>, representing the ‘</a:t>
            </a:r>
            <a:r>
              <a:rPr lang="en-US" b="1" i="1" dirty="0"/>
              <a:t>n</a:t>
            </a:r>
            <a:r>
              <a:rPr lang="en-US" b="1" dirty="0"/>
              <a:t>th’ set of parentheses.</a:t>
            </a:r>
          </a:p>
          <a:p>
            <a:pPr marL="342900" indent="-342900">
              <a:buFont typeface="Arial" panose="020B0604020202020204" pitchFamily="34" charset="0"/>
              <a:buChar char="•"/>
            </a:pPr>
            <a:r>
              <a:rPr lang="en-US" b="1" dirty="0"/>
              <a:t>Alternatively indicated by </a:t>
            </a:r>
            <a:r>
              <a:rPr lang="en-US" b="1" dirty="0">
                <a:latin typeface="Courier New" panose="02070309020205020404" pitchFamily="49" charset="0"/>
              </a:rPr>
              <a:t>\g&lt;</a:t>
            </a:r>
            <a:r>
              <a:rPr lang="en-US" b="1" i="1" dirty="0"/>
              <a:t>n</a:t>
            </a:r>
            <a:r>
              <a:rPr lang="en-US" b="1" dirty="0">
                <a:latin typeface="Courier New" panose="02070309020205020404" pitchFamily="49" charset="0"/>
              </a:rPr>
              <a:t>&gt;</a:t>
            </a:r>
          </a:p>
          <a:p>
            <a:pPr marL="631825" lvl="1">
              <a:buFont typeface="Arial" panose="020B0604020202020204" pitchFamily="34" charset="0"/>
              <a:buChar char="•"/>
            </a:pPr>
            <a:r>
              <a:rPr lang="en-US" dirty="0"/>
              <a:t>Python extension.</a:t>
            </a:r>
          </a:p>
          <a:p>
            <a:pPr marL="631825" lvl="1">
              <a:buFont typeface="Arial" panose="020B0604020202020204" pitchFamily="34" charset="0"/>
              <a:buChar char="•"/>
            </a:pPr>
            <a:r>
              <a:rPr lang="en-US" dirty="0"/>
              <a:t>Also supports </a:t>
            </a:r>
            <a:r>
              <a:rPr lang="en-US" dirty="0">
                <a:latin typeface="Courier New" panose="02070309020205020404" pitchFamily="49" charset="0"/>
              </a:rPr>
              <a:t>\g&lt;0&gt;</a:t>
            </a:r>
            <a:r>
              <a:rPr lang="en-US" dirty="0"/>
              <a:t> which is the text of the whole match.</a:t>
            </a:r>
          </a:p>
          <a:p>
            <a:pPr marL="342900" indent="-342900">
              <a:buFont typeface="Arial" panose="020B0604020202020204" pitchFamily="34" charset="0"/>
              <a:buChar char="•"/>
            </a:pPr>
            <a:r>
              <a:rPr lang="en-US" b="1" dirty="0"/>
              <a:t>May be used in the replacement in sub and </a:t>
            </a:r>
            <a:r>
              <a:rPr lang="en-US" b="1" dirty="0" err="1"/>
              <a:t>subn</a:t>
            </a:r>
            <a:r>
              <a:rPr lang="en-US" b="1" dirty="0"/>
              <a:t>.</a:t>
            </a:r>
          </a:p>
        </p:txBody>
      </p:sp>
      <p:sp>
        <p:nvSpPr>
          <p:cNvPr id="17412" name="Rectangle 4"/>
          <p:cNvSpPr>
            <a:spLocks noChangeArrowheads="1"/>
          </p:cNvSpPr>
          <p:nvPr/>
        </p:nvSpPr>
        <p:spPr bwMode="auto">
          <a:xfrm>
            <a:off x="1012099" y="4529124"/>
            <a:ext cx="7789863" cy="918430"/>
          </a:xfrm>
          <a:prstGeom prst="rect">
            <a:avLst/>
          </a:prstGeom>
          <a:solidFill>
            <a:schemeClr val="tx2">
              <a:lumMod val="20000"/>
              <a:lumOff val="80000"/>
            </a:schemeClr>
          </a:solidFill>
          <a:ln w="12700">
            <a:solidFill>
              <a:schemeClr val="tx1"/>
            </a:solidFill>
            <a:miter lim="800000"/>
            <a:headEnd/>
            <a:tailEnd/>
          </a:ln>
        </p:spPr>
        <p:txBody>
          <a:bodyPr lIns="88135" tIns="43294" rIns="88135" bIns="43294">
            <a:spAutoFit/>
          </a:bodyPr>
          <a:lstStyle/>
          <a:p>
            <a:pPr defTabSz="720725">
              <a:spcBef>
                <a:spcPct val="0"/>
              </a:spcBef>
              <a:tabLst>
                <a:tab pos="742950" algn="l"/>
                <a:tab pos="3711575" algn="l"/>
              </a:tabLst>
            </a:pPr>
            <a:r>
              <a:rPr lang="en-US" dirty="0" err="1">
                <a:latin typeface="Courier New" panose="02070309020205020404" pitchFamily="49" charset="0"/>
              </a:rPr>
              <a:t>str</a:t>
            </a:r>
            <a:r>
              <a:rPr lang="en-US" dirty="0">
                <a:latin typeface="Courier New" panose="02070309020205020404" pitchFamily="49" charset="0"/>
              </a:rPr>
              <a:t>='copyright 2005-2006'</a:t>
            </a:r>
          </a:p>
          <a:p>
            <a:pPr defTabSz="720725">
              <a:tabLst>
                <a:tab pos="742950" algn="l"/>
                <a:tab pos="3711575" algn="l"/>
              </a:tabLst>
            </a:pPr>
            <a:r>
              <a:rPr lang="en-US" dirty="0">
                <a:latin typeface="Courier New" panose="02070309020205020404" pitchFamily="49" charset="0"/>
              </a:rPr>
              <a:t>print(</a:t>
            </a:r>
            <a:r>
              <a:rPr lang="en-US" dirty="0" err="1">
                <a:latin typeface="Courier New" panose="02070309020205020404" pitchFamily="49" charset="0"/>
              </a:rPr>
              <a:t>re.sub</a:t>
            </a:r>
            <a:r>
              <a:rPr lang="en-US" dirty="0">
                <a:latin typeface="Courier New" panose="02070309020205020404" pitchFamily="49" charset="0"/>
              </a:rPr>
              <a:t>(r'((19|20)[0-9]{2})-((19|20)[0-9]{2})', 	        r'</a:t>
            </a:r>
            <a:r>
              <a:rPr lang="en-US" b="1" dirty="0">
                <a:latin typeface="Courier New" panose="02070309020205020404" pitchFamily="49" charset="0"/>
              </a:rPr>
              <a:t>\1</a:t>
            </a:r>
            <a:r>
              <a:rPr lang="en-US" dirty="0">
                <a:latin typeface="Courier New" panose="02070309020205020404" pitchFamily="49" charset="0"/>
              </a:rPr>
              <a:t>-2013', str))</a:t>
            </a:r>
          </a:p>
        </p:txBody>
      </p:sp>
      <p:sp>
        <p:nvSpPr>
          <p:cNvPr id="17413" name="Text Box 5"/>
          <p:cNvSpPr txBox="1">
            <a:spLocks noChangeArrowheads="1"/>
          </p:cNvSpPr>
          <p:nvPr/>
        </p:nvSpPr>
        <p:spPr bwMode="auto">
          <a:xfrm>
            <a:off x="6172896" y="5553062"/>
            <a:ext cx="2884487" cy="346075"/>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a:latin typeface="Courier New" panose="02070309020205020404" pitchFamily="49" charset="0"/>
              </a:rPr>
              <a:t>copyright 2005-2013</a:t>
            </a:r>
          </a:p>
        </p:txBody>
      </p:sp>
      <p:sp>
        <p:nvSpPr>
          <p:cNvPr id="2" name="Slide Number Placeholder 1">
            <a:extLst>
              <a:ext uri="{FF2B5EF4-FFF2-40B4-BE49-F238E27FC236}">
                <a16:creationId xmlns:a16="http://schemas.microsoft.com/office/drawing/2014/main" id="{4ACB297F-FB72-311F-446E-0270391BCE60}"/>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35204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45607" y="349652"/>
            <a:ext cx="11517818" cy="805001"/>
          </a:xfrm>
        </p:spPr>
        <p:txBody>
          <a:bodyPr/>
          <a:lstStyle/>
          <a:p>
            <a:pPr eaLnBrk="1" hangingPunct="1"/>
            <a:r>
              <a:rPr lang="en-GB" dirty="0"/>
              <a:t>Non-capturing groups</a:t>
            </a:r>
          </a:p>
        </p:txBody>
      </p:sp>
      <p:sp>
        <p:nvSpPr>
          <p:cNvPr id="11267" name="Rectangle 3"/>
          <p:cNvSpPr>
            <a:spLocks noGrp="1" noChangeArrowheads="1"/>
          </p:cNvSpPr>
          <p:nvPr>
            <p:ph idx="1"/>
          </p:nvPr>
        </p:nvSpPr>
        <p:spPr>
          <a:xfrm>
            <a:off x="341272" y="1048714"/>
            <a:ext cx="11516239" cy="4955354"/>
          </a:xfrm>
        </p:spPr>
        <p:txBody>
          <a:bodyPr/>
          <a:lstStyle/>
          <a:p>
            <a:pPr marL="342900" indent="-342900">
              <a:buFont typeface="Arial" panose="020B0604020202020204" pitchFamily="34" charset="0"/>
              <a:buChar char="•"/>
            </a:pPr>
            <a:r>
              <a:rPr lang="en-GB" b="1" dirty="0"/>
              <a:t>A parenthesis group creates group values.</a:t>
            </a:r>
          </a:p>
          <a:p>
            <a:pPr marL="631825" lvl="1">
              <a:buFont typeface="Arial" panose="020B0604020202020204" pitchFamily="34" charset="0"/>
              <a:buChar char="•"/>
            </a:pPr>
            <a:r>
              <a:rPr lang="en-GB" dirty="0"/>
              <a:t>Incurs some run-time overhead for keeping track of this.</a:t>
            </a:r>
          </a:p>
          <a:p>
            <a:pPr lvl="1"/>
            <a:endParaRPr lang="en-GB" dirty="0"/>
          </a:p>
          <a:p>
            <a:pPr lvl="1"/>
            <a:endParaRPr lang="en-GB" dirty="0"/>
          </a:p>
          <a:p>
            <a:pPr lvl="1"/>
            <a:endParaRPr lang="en-GB" sz="800" dirty="0"/>
          </a:p>
          <a:p>
            <a:pPr lvl="1"/>
            <a:endParaRPr lang="en-GB" dirty="0"/>
          </a:p>
          <a:p>
            <a:endParaRPr lang="en-GB" dirty="0">
              <a:latin typeface="Courier New" panose="02070309020205020404" pitchFamily="49" charset="0"/>
            </a:endParaRPr>
          </a:p>
          <a:p>
            <a:endParaRPr lang="en-GB" dirty="0">
              <a:latin typeface="Courier New" panose="02070309020205020404" pitchFamily="49" charset="0"/>
            </a:endParaRPr>
          </a:p>
          <a:p>
            <a:pPr marL="342900" indent="-342900">
              <a:buFont typeface="Arial" panose="020B0604020202020204" pitchFamily="34" charset="0"/>
              <a:buChar char="•"/>
            </a:pPr>
            <a:r>
              <a:rPr lang="en-GB" b="1" dirty="0">
                <a:latin typeface="Courier New" panose="02070309020205020404" pitchFamily="49" charset="0"/>
              </a:rPr>
              <a:t>(?:) </a:t>
            </a:r>
            <a:r>
              <a:rPr lang="en-GB" b="1" dirty="0"/>
              <a:t>parenthesis group without back-references.</a:t>
            </a:r>
          </a:p>
          <a:p>
            <a:pPr marL="631825" lvl="1">
              <a:buFont typeface="Arial" panose="020B0604020202020204" pitchFamily="34" charset="0"/>
              <a:buChar char="•"/>
            </a:pPr>
            <a:r>
              <a:rPr lang="en-GB" dirty="0"/>
              <a:t>Incurs lower run-time overhead.</a:t>
            </a:r>
          </a:p>
        </p:txBody>
      </p:sp>
      <p:sp>
        <p:nvSpPr>
          <p:cNvPr id="11268" name="Rectangle 4"/>
          <p:cNvSpPr>
            <a:spLocks noChangeArrowheads="1"/>
          </p:cNvSpPr>
          <p:nvPr/>
        </p:nvSpPr>
        <p:spPr bwMode="auto">
          <a:xfrm>
            <a:off x="1045607" y="4776295"/>
            <a:ext cx="8202613" cy="1305486"/>
          </a:xfrm>
          <a:prstGeom prst="rect">
            <a:avLst/>
          </a:prstGeom>
          <a:solidFill>
            <a:schemeClr val="tx2">
              <a:lumMod val="20000"/>
              <a:lumOff val="80000"/>
            </a:schemeClr>
          </a:solidFill>
          <a:ln w="12700">
            <a:solidFill>
              <a:schemeClr val="tx1"/>
            </a:solidFill>
            <a:miter lim="800000"/>
            <a:headEnd/>
            <a:tailEnd/>
          </a:ln>
          <a:effectLst/>
        </p:spPr>
        <p:txBody>
          <a:bodyPr wrap="square" lIns="90488" tIns="44450" rIns="90488" bIns="44450">
            <a:spAutoFit/>
          </a:bodyPr>
          <a:lstStyle/>
          <a:p>
            <a:pPr>
              <a:spcBef>
                <a:spcPct val="0"/>
              </a:spcBef>
            </a:pPr>
            <a:r>
              <a:rPr lang="en-GB" dirty="0">
                <a:latin typeface="Courier New" panose="02070309020205020404" pitchFamily="49" charset="0"/>
              </a:rPr>
              <a:t>drink = 'A bottle of Miller'</a:t>
            </a:r>
          </a:p>
          <a:p>
            <a:pPr>
              <a:spcBef>
                <a:spcPct val="0"/>
              </a:spcBef>
            </a:pPr>
            <a:endParaRPr lang="en-GB" sz="800" dirty="0">
              <a:latin typeface="Courier New" panose="02070309020205020404" pitchFamily="49" charset="0"/>
            </a:endParaRPr>
          </a:p>
          <a:p>
            <a:pPr>
              <a:spcBef>
                <a:spcPct val="0"/>
              </a:spcBef>
            </a:pPr>
            <a:r>
              <a:rPr lang="en-GB" sz="1700" dirty="0">
                <a:latin typeface="Courier New" panose="02070309020205020404" pitchFamily="49" charset="0"/>
              </a:rPr>
              <a:t>pattern = 'A (</a:t>
            </a:r>
            <a:r>
              <a:rPr lang="en-GB" sz="1700" b="1" dirty="0">
                <a:latin typeface="Courier New" panose="02070309020205020404" pitchFamily="49" charset="0"/>
              </a:rPr>
              <a:t>?:</a:t>
            </a:r>
            <a:r>
              <a:rPr lang="en-GB" sz="1700" dirty="0" err="1">
                <a:latin typeface="Courier New" panose="02070309020205020404" pitchFamily="49" charset="0"/>
              </a:rPr>
              <a:t>glass|bottle|barrel</a:t>
            </a:r>
            <a:r>
              <a:rPr lang="en-GB" sz="1700" dirty="0">
                <a:latin typeface="Courier New" panose="02070309020205020404" pitchFamily="49" charset="0"/>
              </a:rPr>
              <a:t>) of (</a:t>
            </a:r>
            <a:r>
              <a:rPr lang="en-GB" sz="1700" b="1" dirty="0">
                <a:latin typeface="Courier New" panose="02070309020205020404" pitchFamily="49" charset="0"/>
              </a:rPr>
              <a:t>?:</a:t>
            </a:r>
            <a:r>
              <a:rPr lang="en-GB" sz="1700" dirty="0" err="1">
                <a:latin typeface="Courier New" panose="02070309020205020404" pitchFamily="49" charset="0"/>
              </a:rPr>
              <a:t>Bud|Miller|Coors</a:t>
            </a:r>
            <a:r>
              <a:rPr lang="en-GB" sz="1700" dirty="0">
                <a:latin typeface="Courier New" panose="02070309020205020404" pitchFamily="49" charset="0"/>
              </a:rPr>
              <a:t>)'</a:t>
            </a:r>
          </a:p>
          <a:p>
            <a:pPr>
              <a:spcBef>
                <a:spcPct val="0"/>
              </a:spcBef>
            </a:pPr>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(pattern, drink)</a:t>
            </a:r>
          </a:p>
          <a:p>
            <a:pPr>
              <a:spcBef>
                <a:spcPct val="0"/>
              </a:spcBef>
            </a:pPr>
            <a:r>
              <a:rPr lang="en-GB" dirty="0">
                <a:latin typeface="Courier New" panose="02070309020205020404" pitchFamily="49" charset="0"/>
              </a:rPr>
              <a:t>if m: print(</a:t>
            </a:r>
            <a:r>
              <a:rPr lang="en-GB" dirty="0" err="1">
                <a:latin typeface="Courier New" panose="02070309020205020404" pitchFamily="49" charset="0"/>
              </a:rPr>
              <a:t>m.groups</a:t>
            </a:r>
            <a:r>
              <a:rPr lang="en-GB" dirty="0">
                <a:latin typeface="Courier New" panose="02070309020205020404" pitchFamily="49" charset="0"/>
              </a:rPr>
              <a:t>())</a:t>
            </a:r>
          </a:p>
        </p:txBody>
      </p:sp>
      <p:sp>
        <p:nvSpPr>
          <p:cNvPr id="11269" name="Rectangle 4"/>
          <p:cNvSpPr>
            <a:spLocks noChangeArrowheads="1"/>
          </p:cNvSpPr>
          <p:nvPr/>
        </p:nvSpPr>
        <p:spPr bwMode="auto">
          <a:xfrm>
            <a:off x="1045607" y="1989216"/>
            <a:ext cx="8164513" cy="1320874"/>
          </a:xfrm>
          <a:prstGeom prst="rect">
            <a:avLst/>
          </a:prstGeom>
          <a:solidFill>
            <a:schemeClr val="tx2">
              <a:lumMod val="20000"/>
              <a:lumOff val="80000"/>
            </a:schemeClr>
          </a:solidFill>
          <a:ln w="12700">
            <a:solidFill>
              <a:schemeClr val="tx1"/>
            </a:solidFill>
            <a:miter lim="800000"/>
            <a:headEnd/>
            <a:tailEnd/>
          </a:ln>
          <a:effectLst/>
        </p:spPr>
        <p:txBody>
          <a:bodyPr wrap="square" lIns="90488" tIns="44450" rIns="90488" bIns="44450">
            <a:spAutoFit/>
          </a:bodyPr>
          <a:lstStyle/>
          <a:p>
            <a:pPr>
              <a:spcBef>
                <a:spcPct val="0"/>
              </a:spcBef>
            </a:pPr>
            <a:r>
              <a:rPr lang="en-GB" dirty="0">
                <a:latin typeface="Courier New" panose="02070309020205020404" pitchFamily="49" charset="0"/>
              </a:rPr>
              <a:t>drink = 'A bottle of Miller'</a:t>
            </a:r>
          </a:p>
          <a:p>
            <a:pPr>
              <a:spcBef>
                <a:spcPct val="0"/>
              </a:spcBef>
            </a:pPr>
            <a:endParaRPr lang="en-GB" sz="800" dirty="0">
              <a:latin typeface="Courier New" panose="02070309020205020404" pitchFamily="49" charset="0"/>
            </a:endParaRPr>
          </a:p>
          <a:p>
            <a:pPr>
              <a:spcBef>
                <a:spcPct val="0"/>
              </a:spcBef>
            </a:pPr>
            <a:r>
              <a:rPr lang="en-GB" dirty="0">
                <a:latin typeface="Courier New" panose="02070309020205020404" pitchFamily="49" charset="0"/>
              </a:rPr>
              <a:t>pattern = 'A (</a:t>
            </a:r>
            <a:r>
              <a:rPr lang="en-GB" dirty="0" err="1">
                <a:latin typeface="Courier New" panose="02070309020205020404" pitchFamily="49" charset="0"/>
              </a:rPr>
              <a:t>glass|bottle|barrel</a:t>
            </a:r>
            <a:r>
              <a:rPr lang="en-GB" dirty="0">
                <a:latin typeface="Courier New" panose="02070309020205020404" pitchFamily="49" charset="0"/>
              </a:rPr>
              <a:t>) of (</a:t>
            </a:r>
            <a:r>
              <a:rPr lang="en-GB" dirty="0" err="1">
                <a:latin typeface="Courier New" panose="02070309020205020404" pitchFamily="49" charset="0"/>
              </a:rPr>
              <a:t>Bud|Miller|Coors</a:t>
            </a:r>
            <a:r>
              <a:rPr lang="en-GB" dirty="0">
                <a:latin typeface="Courier New" panose="02070309020205020404" pitchFamily="49" charset="0"/>
              </a:rPr>
              <a:t>)'</a:t>
            </a:r>
          </a:p>
          <a:p>
            <a:pPr>
              <a:spcBef>
                <a:spcPct val="0"/>
              </a:spcBef>
            </a:pPr>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(pattern, drink)</a:t>
            </a:r>
          </a:p>
          <a:p>
            <a:pPr>
              <a:spcBef>
                <a:spcPct val="0"/>
              </a:spcBef>
            </a:pPr>
            <a:r>
              <a:rPr lang="en-GB" dirty="0">
                <a:latin typeface="Courier New" panose="02070309020205020404" pitchFamily="49" charset="0"/>
              </a:rPr>
              <a:t>if m: print(</a:t>
            </a:r>
            <a:r>
              <a:rPr lang="en-GB" dirty="0" err="1">
                <a:latin typeface="Courier New" panose="02070309020205020404" pitchFamily="49" charset="0"/>
              </a:rPr>
              <a:t>m.groups</a:t>
            </a:r>
            <a:r>
              <a:rPr lang="en-GB" dirty="0">
                <a:latin typeface="Courier New" panose="02070309020205020404" pitchFamily="49" charset="0"/>
              </a:rPr>
              <a:t>())</a:t>
            </a:r>
          </a:p>
        </p:txBody>
      </p:sp>
      <p:sp>
        <p:nvSpPr>
          <p:cNvPr id="11270" name="TextBox 6"/>
          <p:cNvSpPr txBox="1">
            <a:spLocks noChangeArrowheads="1"/>
          </p:cNvSpPr>
          <p:nvPr/>
        </p:nvSpPr>
        <p:spPr bwMode="auto">
          <a:xfrm>
            <a:off x="6236732" y="3387803"/>
            <a:ext cx="2973388" cy="369888"/>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('bottle', 'Miller')</a:t>
            </a:r>
          </a:p>
        </p:txBody>
      </p:sp>
      <p:sp>
        <p:nvSpPr>
          <p:cNvPr id="11271" name="TextBox 7"/>
          <p:cNvSpPr txBox="1">
            <a:spLocks noChangeArrowheads="1"/>
          </p:cNvSpPr>
          <p:nvPr/>
        </p:nvSpPr>
        <p:spPr bwMode="auto">
          <a:xfrm>
            <a:off x="6185932" y="6127259"/>
            <a:ext cx="3062288" cy="369887"/>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3978F09C-F6FC-2EF7-9720-C408F80C7A02}"/>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7034094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80994" y="331149"/>
            <a:ext cx="11517818" cy="805001"/>
          </a:xfrm>
        </p:spPr>
        <p:txBody>
          <a:bodyPr/>
          <a:lstStyle/>
          <a:p>
            <a:pPr eaLnBrk="1" hangingPunct="1"/>
            <a:r>
              <a:rPr lang="en-GB" dirty="0"/>
              <a:t>Other match methods</a:t>
            </a:r>
          </a:p>
        </p:txBody>
      </p:sp>
      <p:sp>
        <p:nvSpPr>
          <p:cNvPr id="12291"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solidFill>
                  <a:srgbClr val="0000C8"/>
                </a:solidFill>
                <a:latin typeface="Courier New" panose="02070309020205020404" pitchFamily="49" charset="0"/>
                <a:cs typeface="Courier New" panose="02070309020205020404" pitchFamily="49" charset="0"/>
              </a:rPr>
              <a:t>start()</a:t>
            </a:r>
            <a:r>
              <a:rPr lang="en-GB" b="1" dirty="0"/>
              <a:t>: list of starting offsets of each match.</a:t>
            </a:r>
          </a:p>
          <a:p>
            <a:pPr marL="631825" lvl="1">
              <a:buFont typeface="Arial" panose="020B0604020202020204" pitchFamily="34" charset="0"/>
              <a:buChar char="•"/>
            </a:pPr>
            <a:r>
              <a:rPr lang="en-GB" dirty="0"/>
              <a:t>First element gives the offset to the start of the first match.</a:t>
            </a:r>
          </a:p>
          <a:p>
            <a:pPr marL="342900" indent="-342900">
              <a:buFont typeface="Arial" panose="020B0604020202020204" pitchFamily="34" charset="0"/>
              <a:buChar char="•"/>
            </a:pPr>
            <a:r>
              <a:rPr lang="en-GB" b="1" dirty="0">
                <a:solidFill>
                  <a:srgbClr val="0000C8"/>
                </a:solidFill>
                <a:latin typeface="Courier New" panose="02070309020205020404" pitchFamily="49" charset="0"/>
                <a:cs typeface="Courier New" panose="02070309020205020404" pitchFamily="49" charset="0"/>
              </a:rPr>
              <a:t>end()  </a:t>
            </a:r>
            <a:r>
              <a:rPr lang="en-GB" b="1" dirty="0"/>
              <a:t>: list of ending offsets+1 of each match.</a:t>
            </a:r>
            <a:endParaRPr lang="en-GB" b="1" dirty="0">
              <a:solidFill>
                <a:srgbClr val="0000C8"/>
              </a:solidFill>
              <a:latin typeface="Courier New" panose="02070309020205020404" pitchFamily="49" charset="0"/>
            </a:endParaRPr>
          </a:p>
          <a:p>
            <a:pPr marL="631825" lvl="1">
              <a:buFont typeface="Arial" panose="020B0604020202020204" pitchFamily="34" charset="0"/>
              <a:buChar char="•"/>
            </a:pPr>
            <a:r>
              <a:rPr lang="en-GB" dirty="0"/>
              <a:t>First element gives the offset+1 to the end of the first match.</a:t>
            </a:r>
          </a:p>
          <a:p>
            <a:pPr marL="342900" indent="-342900">
              <a:buFont typeface="Arial" panose="020B0604020202020204" pitchFamily="34" charset="0"/>
              <a:buChar char="•"/>
            </a:pPr>
            <a:r>
              <a:rPr lang="en-GB" b="1" dirty="0" err="1"/>
              <a:t>lastindex</a:t>
            </a:r>
            <a:r>
              <a:rPr lang="en-GB" b="1" dirty="0"/>
              <a:t> : index of last group matched.</a:t>
            </a:r>
          </a:p>
          <a:p>
            <a:pPr lvl="1"/>
            <a:endParaRPr lang="en-GB" dirty="0"/>
          </a:p>
        </p:txBody>
      </p:sp>
      <p:sp>
        <p:nvSpPr>
          <p:cNvPr id="12292" name="Text Box 4"/>
          <p:cNvSpPr txBox="1">
            <a:spLocks noChangeArrowheads="1"/>
          </p:cNvSpPr>
          <p:nvPr/>
        </p:nvSpPr>
        <p:spPr bwMode="auto">
          <a:xfrm>
            <a:off x="341272" y="3677485"/>
            <a:ext cx="7934325" cy="2032000"/>
          </a:xfrm>
          <a:prstGeom prst="rect">
            <a:avLst/>
          </a:prstGeom>
          <a:solidFill>
            <a:schemeClr val="tx2">
              <a:lumMod val="20000"/>
              <a:lumOff val="80000"/>
            </a:schemeClr>
          </a:solidFill>
          <a:ln w="12700">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      0123456789012345678901234567890123456789012345</a:t>
            </a:r>
          </a:p>
          <a:p>
            <a:pPr>
              <a:spcBef>
                <a:spcPct val="0"/>
              </a:spcBef>
            </a:pPr>
            <a:r>
              <a:rPr lang="en-GB" sz="1800" dirty="0">
                <a:latin typeface="Courier New" panose="02070309020205020404" pitchFamily="49" charset="0"/>
                <a:cs typeface="Courier New" panose="02070309020205020404" pitchFamily="49" charset="0"/>
              </a:rPr>
              <a:t>txt = '2 456 first 3456 second third 98765 fourth 123'</a:t>
            </a:r>
          </a:p>
          <a:p>
            <a:pPr>
              <a:spcBef>
                <a:spcPct val="0"/>
              </a:spcBef>
            </a:pPr>
            <a:r>
              <a:rPr lang="en-GB" sz="1800" dirty="0">
                <a:latin typeface="Courier New" panose="02070309020205020404" pitchFamily="49" charset="0"/>
                <a:cs typeface="Courier New" panose="02070309020205020404" pitchFamily="49" charset="0"/>
              </a:rPr>
              <a:t>m = </a:t>
            </a:r>
            <a:r>
              <a:rPr lang="en-GB" sz="1800" dirty="0" err="1">
                <a:latin typeface="Courier New" panose="02070309020205020404" pitchFamily="49" charset="0"/>
                <a:cs typeface="Courier New" panose="02070309020205020404" pitchFamily="49" charset="0"/>
              </a:rPr>
              <a:t>re.search</a:t>
            </a:r>
            <a:r>
              <a:rPr lang="en-GB" sz="1800" dirty="0">
                <a:latin typeface="Courier New" panose="02070309020205020404" pitchFamily="49" charset="0"/>
                <a:cs typeface="Courier New" panose="02070309020205020404" pitchFamily="49" charset="0"/>
              </a:rPr>
              <a:t>(r'(\d+) ([a-z]+) (\d+)',txt)</a:t>
            </a:r>
          </a:p>
          <a:p>
            <a:pPr>
              <a:spcBef>
                <a:spcPct val="0"/>
              </a:spcBef>
            </a:pPr>
            <a:r>
              <a:rPr lang="en-GB" sz="1800" dirty="0">
                <a:latin typeface="Courier New" panose="02070309020205020404" pitchFamily="49" charset="0"/>
                <a:cs typeface="Courier New" panose="02070309020205020404" pitchFamily="49" charset="0"/>
              </a:rPr>
              <a:t>if m:</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m.groups</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m.start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i</a:t>
            </a:r>
            <a:r>
              <a:rPr lang="en-GB" sz="1800" dirty="0">
                <a:latin typeface="Courier New" panose="02070309020205020404" pitchFamily="49" charset="0"/>
                <a:cs typeface="Courier New" panose="02070309020205020404" pitchFamily="49" charset="0"/>
              </a:rPr>
              <a:t>) for </a:t>
            </a:r>
            <a:r>
              <a:rPr lang="en-GB" sz="1800" dirty="0" err="1">
                <a:latin typeface="Courier New" panose="02070309020205020404" pitchFamily="49" charset="0"/>
                <a:cs typeface="Courier New" panose="02070309020205020404" pitchFamily="49" charset="0"/>
              </a:rPr>
              <a:t>i</a:t>
            </a:r>
            <a:r>
              <a:rPr lang="en-GB" sz="1800" dirty="0">
                <a:latin typeface="Courier New" panose="02070309020205020404" pitchFamily="49" charset="0"/>
                <a:cs typeface="Courier New" panose="02070309020205020404" pitchFamily="49" charset="0"/>
              </a:rPr>
              <a:t> in range(1, m.lastindex+1)])</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m.end</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i</a:t>
            </a:r>
            <a:r>
              <a:rPr lang="en-GB" sz="1800" dirty="0">
                <a:latin typeface="Courier New" panose="02070309020205020404" pitchFamily="49" charset="0"/>
                <a:cs typeface="Courier New" panose="02070309020205020404" pitchFamily="49" charset="0"/>
              </a:rPr>
              <a:t>)   for </a:t>
            </a:r>
            <a:r>
              <a:rPr lang="en-GB" sz="1800" dirty="0" err="1">
                <a:latin typeface="Courier New" panose="02070309020205020404" pitchFamily="49" charset="0"/>
                <a:cs typeface="Courier New" panose="02070309020205020404" pitchFamily="49" charset="0"/>
              </a:rPr>
              <a:t>i</a:t>
            </a:r>
            <a:r>
              <a:rPr lang="en-GB" sz="1800" dirty="0">
                <a:latin typeface="Courier New" panose="02070309020205020404" pitchFamily="49" charset="0"/>
                <a:cs typeface="Courier New" panose="02070309020205020404" pitchFamily="49" charset="0"/>
              </a:rPr>
              <a:t> in range(1, m.lastindex+1)])</a:t>
            </a:r>
          </a:p>
        </p:txBody>
      </p:sp>
      <p:sp>
        <p:nvSpPr>
          <p:cNvPr id="12293" name="Text Box 5"/>
          <p:cNvSpPr txBox="1">
            <a:spLocks noChangeArrowheads="1"/>
          </p:cNvSpPr>
          <p:nvPr/>
        </p:nvSpPr>
        <p:spPr bwMode="auto">
          <a:xfrm>
            <a:off x="3994110" y="5709485"/>
            <a:ext cx="4543425" cy="922338"/>
          </a:xfrm>
          <a:prstGeom prst="rect">
            <a:avLst/>
          </a:prstGeom>
          <a:solidFill>
            <a:schemeClr val="accent2"/>
          </a:solidFill>
          <a:ln w="12700">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('456', 'first', '3456')</a:t>
            </a:r>
          </a:p>
          <a:p>
            <a:pPr>
              <a:spcBef>
                <a:spcPct val="0"/>
              </a:spcBef>
            </a:pPr>
            <a:r>
              <a:rPr lang="en-GB" sz="1800" dirty="0">
                <a:latin typeface="Courier New" panose="02070309020205020404" pitchFamily="49" charset="0"/>
                <a:cs typeface="Courier New" panose="02070309020205020404" pitchFamily="49" charset="0"/>
              </a:rPr>
              <a:t>[2, 6, 12]</a:t>
            </a:r>
          </a:p>
          <a:p>
            <a:pPr>
              <a:spcBef>
                <a:spcPct val="0"/>
              </a:spcBef>
            </a:pPr>
            <a:r>
              <a:rPr lang="en-GB" sz="1800" dirty="0">
                <a:latin typeface="Courier New" panose="02070309020205020404" pitchFamily="49" charset="0"/>
                <a:cs typeface="Courier New" panose="02070309020205020404" pitchFamily="49" charset="0"/>
              </a:rPr>
              <a:t>[5, 11, 16]</a:t>
            </a:r>
          </a:p>
        </p:txBody>
      </p:sp>
      <p:sp>
        <p:nvSpPr>
          <p:cNvPr id="2" name="Slide Number Placeholder 1">
            <a:extLst>
              <a:ext uri="{FF2B5EF4-FFF2-40B4-BE49-F238E27FC236}">
                <a16:creationId xmlns:a16="http://schemas.microsoft.com/office/drawing/2014/main" id="{2BA99706-4C60-C1CC-A57F-205DCDE9166B}"/>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284621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09274" y="290400"/>
            <a:ext cx="11517818" cy="805001"/>
          </a:xfrm>
        </p:spPr>
        <p:txBody>
          <a:bodyPr/>
          <a:lstStyle/>
          <a:p>
            <a:pPr eaLnBrk="1" hangingPunct="1"/>
            <a:r>
              <a:rPr lang="en-GB" dirty="0"/>
              <a:t>Named captures</a:t>
            </a:r>
            <a:endParaRPr lang="en-US" dirty="0"/>
          </a:p>
        </p:txBody>
      </p:sp>
      <p:sp>
        <p:nvSpPr>
          <p:cNvPr id="13315"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t>Give names to captures, not just boring </a:t>
            </a:r>
            <a:r>
              <a:rPr lang="en-GB" b="1" dirty="0" err="1">
                <a:latin typeface="Courier New" panose="02070309020205020404" pitchFamily="49" charset="0"/>
              </a:rPr>
              <a:t>m.group</a:t>
            </a:r>
            <a:r>
              <a:rPr lang="en-GB" b="1" dirty="0">
                <a:latin typeface="Courier New" panose="02070309020205020404" pitchFamily="49" charset="0"/>
              </a:rPr>
              <a:t>()</a:t>
            </a:r>
            <a:r>
              <a:rPr lang="en-GB" b="1" dirty="0"/>
              <a:t>…</a:t>
            </a:r>
          </a:p>
          <a:p>
            <a:pPr lvl="1">
              <a:buFont typeface="Arial" panose="020B0604020202020204" pitchFamily="34" charset="0"/>
              <a:buChar char="•"/>
            </a:pPr>
            <a:endParaRPr lang="en-GB" b="1" dirty="0"/>
          </a:p>
          <a:p>
            <a:pPr lvl="1">
              <a:buFont typeface="Arial" panose="020B0604020202020204" pitchFamily="34" charset="0"/>
              <a:buChar char="•"/>
            </a:pPr>
            <a:endParaRPr lang="en-GB" b="1" dirty="0"/>
          </a:p>
          <a:p>
            <a:pPr marL="342900" indent="-342900">
              <a:buFont typeface="Arial" panose="020B0604020202020204" pitchFamily="34" charset="0"/>
              <a:buChar char="•"/>
            </a:pPr>
            <a:r>
              <a:rPr lang="en-GB" b="1" dirty="0"/>
              <a:t>Capture names and values are in</a:t>
            </a:r>
            <a:r>
              <a:rPr lang="en-GB" b="1" dirty="0">
                <a:latin typeface="Courier New" panose="02070309020205020404" pitchFamily="49" charset="0"/>
              </a:rPr>
              <a:t> </a:t>
            </a:r>
            <a:r>
              <a:rPr lang="en-GB" b="1" dirty="0" err="1">
                <a:solidFill>
                  <a:srgbClr val="0000C8"/>
                </a:solidFill>
                <a:latin typeface="Courier New" panose="02070309020205020404" pitchFamily="49" charset="0"/>
              </a:rPr>
              <a:t>m.groupdict</a:t>
            </a:r>
            <a:r>
              <a:rPr lang="en-GB" b="1" dirty="0">
                <a:solidFill>
                  <a:srgbClr val="0000C8"/>
                </a:solidFill>
                <a:latin typeface="Courier New" panose="02070309020205020404" pitchFamily="49" charset="0"/>
              </a:rPr>
              <a:t>()</a:t>
            </a:r>
          </a:p>
          <a:p>
            <a:pPr lvl="1"/>
            <a:endParaRPr lang="en-GB" dirty="0"/>
          </a:p>
          <a:p>
            <a:pPr lvl="1"/>
            <a:endParaRPr lang="en-US" dirty="0"/>
          </a:p>
        </p:txBody>
      </p:sp>
      <p:sp>
        <p:nvSpPr>
          <p:cNvPr id="13316" name="Text Box 4"/>
          <p:cNvSpPr txBox="1">
            <a:spLocks noChangeArrowheads="1"/>
          </p:cNvSpPr>
          <p:nvPr/>
        </p:nvSpPr>
        <p:spPr bwMode="auto">
          <a:xfrm>
            <a:off x="1088896" y="1864436"/>
            <a:ext cx="3449637" cy="400050"/>
          </a:xfrm>
          <a:prstGeom prst="rect">
            <a:avLst/>
          </a:prstGeom>
          <a:solidFill>
            <a:schemeClr val="bg2">
              <a:lumMod val="20000"/>
              <a:lumOff val="80000"/>
            </a:schemeClr>
          </a:solidFill>
          <a:ln w="12700">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2000" b="1" dirty="0">
                <a:latin typeface="Courier New" panose="02070309020205020404" pitchFamily="49" charset="0"/>
              </a:rPr>
              <a:t>(?P&lt;</a:t>
            </a:r>
            <a:r>
              <a:rPr lang="en-GB" sz="2000" i="1" dirty="0">
                <a:latin typeface="Courier New" panose="02070309020205020404" pitchFamily="49" charset="0"/>
              </a:rPr>
              <a:t>name</a:t>
            </a:r>
            <a:r>
              <a:rPr lang="en-GB" sz="2000" b="1" dirty="0">
                <a:latin typeface="Courier New" panose="02070309020205020404" pitchFamily="49" charset="0"/>
              </a:rPr>
              <a:t>&gt;</a:t>
            </a:r>
            <a:r>
              <a:rPr lang="en-GB" sz="2000" i="1" dirty="0">
                <a:latin typeface="Courier New" panose="02070309020205020404" pitchFamily="49" charset="0"/>
              </a:rPr>
              <a:t>RE-pattern</a:t>
            </a:r>
            <a:r>
              <a:rPr lang="en-GB" sz="2000" b="1" dirty="0">
                <a:latin typeface="Courier New" panose="02070309020205020404" pitchFamily="49" charset="0"/>
              </a:rPr>
              <a:t>)</a:t>
            </a:r>
            <a:endParaRPr lang="en-US" sz="2000" b="1" dirty="0">
              <a:latin typeface="Courier New" panose="02070309020205020404" pitchFamily="49" charset="0"/>
            </a:endParaRPr>
          </a:p>
        </p:txBody>
      </p:sp>
      <p:sp>
        <p:nvSpPr>
          <p:cNvPr id="13317" name="Text Box 5"/>
          <p:cNvSpPr txBox="1">
            <a:spLocks noChangeArrowheads="1"/>
          </p:cNvSpPr>
          <p:nvPr/>
        </p:nvSpPr>
        <p:spPr bwMode="auto">
          <a:xfrm>
            <a:off x="1088896" y="3177276"/>
            <a:ext cx="8812618" cy="2585323"/>
          </a:xfrm>
          <a:prstGeom prst="rect">
            <a:avLst/>
          </a:prstGeom>
          <a:solidFill>
            <a:schemeClr val="tx2">
              <a:lumMod val="20000"/>
              <a:lumOff val="80000"/>
            </a:schemeClr>
          </a:solidFill>
          <a:ln w="12700">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df</a:t>
            </a:r>
            <a:r>
              <a:rPr lang="en-US" sz="1800" dirty="0">
                <a:latin typeface="Courier New" panose="02070309020205020404" pitchFamily="49" charset="0"/>
              </a:rPr>
              <a:t> = '/</a:t>
            </a:r>
            <a:r>
              <a:rPr lang="en-US" sz="1800" dirty="0" err="1">
                <a:latin typeface="Courier New" panose="02070309020205020404" pitchFamily="49" charset="0"/>
              </a:rPr>
              <a:t>dev</a:t>
            </a:r>
            <a:r>
              <a:rPr lang="en-US" sz="1800" dirty="0">
                <a:latin typeface="Courier New" panose="02070309020205020404" pitchFamily="49" charset="0"/>
              </a:rPr>
              <a:t>/sd3d  135398  69683  52176  57%  /home/stuff'</a:t>
            </a:r>
          </a:p>
          <a:p>
            <a:pPr>
              <a:spcBef>
                <a:spcPct val="0"/>
              </a:spcBef>
            </a:pPr>
            <a:r>
              <a:rPr lang="en-US" sz="1800" dirty="0">
                <a:latin typeface="Courier New" panose="02070309020205020404" pitchFamily="49" charset="0"/>
              </a:rPr>
              <a:t>m = </a:t>
            </a:r>
            <a:r>
              <a:rPr lang="en-US" sz="1800" dirty="0" err="1">
                <a:latin typeface="Courier New" panose="02070309020205020404" pitchFamily="49" charset="0"/>
              </a:rPr>
              <a:t>re.search</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^(?P&lt;</a:t>
            </a:r>
            <a:r>
              <a:rPr lang="en-US" sz="1800" b="1" dirty="0">
                <a:latin typeface="Courier New" panose="02070309020205020404" pitchFamily="49" charset="0"/>
              </a:rPr>
              <a:t>fs</a:t>
            </a:r>
            <a:r>
              <a:rPr lang="en-US" sz="1800" dirty="0">
                <a:latin typeface="Courier New" panose="02070309020205020404" pitchFamily="49" charset="0"/>
              </a:rPr>
              <a:t>&gt;\S+)   \s+ (?:\d+)       \s+ (?:\d+) \s+</a:t>
            </a:r>
          </a:p>
          <a:p>
            <a:pPr>
              <a:spcBef>
                <a:spcPct val="0"/>
              </a:spcBef>
            </a:pPr>
            <a:r>
              <a:rPr lang="en-US" sz="1800" dirty="0">
                <a:latin typeface="Courier New" panose="02070309020205020404" pitchFamily="49" charset="0"/>
              </a:rPr>
              <a:t>         (?P&lt;</a:t>
            </a:r>
            <a:r>
              <a:rPr lang="en-US" sz="1800" b="1" dirty="0">
                <a:latin typeface="Courier New" panose="02070309020205020404" pitchFamily="49" charset="0"/>
              </a:rPr>
              <a:t>avail</a:t>
            </a:r>
            <a:r>
              <a:rPr lang="en-US" sz="1800" dirty="0">
                <a:latin typeface="Courier New" panose="02070309020205020404" pitchFamily="49" charset="0"/>
              </a:rPr>
              <a:t>&gt;\d+)\s+ (?P&lt;</a:t>
            </a:r>
            <a:r>
              <a:rPr lang="en-US" sz="1800" b="1" dirty="0">
                <a:latin typeface="Courier New" panose="02070309020205020404" pitchFamily="49" charset="0"/>
              </a:rPr>
              <a:t>cap</a:t>
            </a:r>
            <a:r>
              <a:rPr lang="en-US" sz="1800" dirty="0">
                <a:latin typeface="Courier New" panose="02070309020205020404" pitchFamily="49" charset="0"/>
              </a:rPr>
              <a:t>&gt;\d+)% \s+ (?P&lt;</a:t>
            </a:r>
            <a:r>
              <a:rPr lang="en-US" sz="1800" b="1" dirty="0" err="1">
                <a:latin typeface="Courier New" panose="02070309020205020404" pitchFamily="49" charset="0"/>
              </a:rPr>
              <a:t>mnt</a:t>
            </a:r>
            <a:r>
              <a:rPr lang="en-US" sz="1800" dirty="0">
                <a:latin typeface="Courier New" panose="02070309020205020404" pitchFamily="49" charset="0"/>
              </a:rPr>
              <a:t>&gt;\S+)</a:t>
            </a:r>
          </a:p>
          <a:p>
            <a:pPr>
              <a:spcBef>
                <a:spcPct val="0"/>
              </a:spcBef>
            </a:pPr>
            <a:r>
              <a:rPr lang="en-US" sz="1800" dirty="0">
                <a:latin typeface="Courier New" panose="02070309020205020404" pitchFamily="49" charset="0"/>
              </a:rPr>
              <a:t>              ''', </a:t>
            </a:r>
            <a:r>
              <a:rPr lang="en-US" sz="1800" dirty="0" err="1">
                <a:latin typeface="Courier New" panose="02070309020205020404" pitchFamily="49" charset="0"/>
              </a:rPr>
              <a:t>df</a:t>
            </a:r>
            <a:r>
              <a:rPr lang="en-US" sz="1800" dirty="0">
                <a:latin typeface="Courier New" panose="02070309020205020404" pitchFamily="49" charset="0"/>
              </a:rPr>
              <a:t>, </a:t>
            </a:r>
            <a:r>
              <a:rPr lang="en-US" sz="1800" dirty="0" err="1">
                <a:latin typeface="Courier New" panose="02070309020205020404" pitchFamily="49" charset="0"/>
              </a:rPr>
              <a:t>re.X</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if m:</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gd</a:t>
            </a:r>
            <a:r>
              <a:rPr lang="en-US" sz="1800" dirty="0">
                <a:latin typeface="Courier New" panose="02070309020205020404" pitchFamily="49" charset="0"/>
              </a:rPr>
              <a:t> = </a:t>
            </a:r>
            <a:r>
              <a:rPr lang="en-US" sz="1800" b="1" dirty="0" err="1">
                <a:latin typeface="Courier New" panose="02070309020205020404" pitchFamily="49" charset="0"/>
              </a:rPr>
              <a:t>m.groupdict</a:t>
            </a:r>
            <a:r>
              <a:rPr lang="en-US" sz="1800" dirty="0">
                <a:latin typeface="Courier New" panose="02070309020205020404" pitchFamily="49" charset="0"/>
              </a:rPr>
              <a:t>()</a:t>
            </a:r>
          </a:p>
          <a:p>
            <a:r>
              <a:rPr lang="en-US" sz="1800" dirty="0">
                <a:latin typeface="Courier New" panose="02070309020205020404" pitchFamily="49" charset="0"/>
              </a:rPr>
              <a:t>    print('{0[</a:t>
            </a:r>
            <a:r>
              <a:rPr lang="en-US" sz="1800" dirty="0" err="1">
                <a:latin typeface="Courier New" panose="02070309020205020404" pitchFamily="49" charset="0"/>
              </a:rPr>
              <a:t>mnt</a:t>
            </a:r>
            <a:r>
              <a:rPr lang="en-US" sz="1800" dirty="0">
                <a:latin typeface="Courier New" panose="02070309020205020404" pitchFamily="49" charset="0"/>
              </a:rPr>
              <a:t>]} ({0[fs]}) has {0[avail]} ({0[cap]}%) free'.</a:t>
            </a:r>
          </a:p>
          <a:p>
            <a:pPr>
              <a:spcBef>
                <a:spcPct val="0"/>
              </a:spcBef>
            </a:pPr>
            <a:r>
              <a:rPr lang="en-US" sz="1800" dirty="0">
                <a:latin typeface="Courier New" panose="02070309020205020404" pitchFamily="49" charset="0"/>
              </a:rPr>
              <a:t>          format(</a:t>
            </a:r>
            <a:r>
              <a:rPr lang="en-US" sz="1800" dirty="0" err="1">
                <a:latin typeface="Courier New" panose="02070309020205020404" pitchFamily="49" charset="0"/>
              </a:rPr>
              <a:t>gd</a:t>
            </a:r>
            <a:r>
              <a:rPr lang="en-US" sz="1800" dirty="0">
                <a:latin typeface="Courier New" panose="02070309020205020404" pitchFamily="49" charset="0"/>
              </a:rPr>
              <a:t>))</a:t>
            </a:r>
          </a:p>
        </p:txBody>
      </p:sp>
      <p:sp>
        <p:nvSpPr>
          <p:cNvPr id="13318" name="Text Box 6"/>
          <p:cNvSpPr txBox="1">
            <a:spLocks noChangeArrowheads="1"/>
          </p:cNvSpPr>
          <p:nvPr/>
        </p:nvSpPr>
        <p:spPr bwMode="auto">
          <a:xfrm>
            <a:off x="3123330" y="5994671"/>
            <a:ext cx="6319837" cy="492125"/>
          </a:xfrm>
          <a:prstGeom prst="rect">
            <a:avLst/>
          </a:prstGeom>
          <a:solidFill>
            <a:schemeClr val="accent2"/>
          </a:solidFill>
          <a:ln w="12700">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endParaRPr lang="en-US" sz="800" b="1" dirty="0">
              <a:latin typeface="Courier New" panose="02070309020205020404" pitchFamily="49" charset="0"/>
            </a:endParaRPr>
          </a:p>
          <a:p>
            <a:pPr>
              <a:spcBef>
                <a:spcPct val="0"/>
              </a:spcBef>
            </a:pPr>
            <a:r>
              <a:rPr lang="en-US" sz="1800" b="1" dirty="0">
                <a:latin typeface="Courier New" panose="02070309020205020404" pitchFamily="49" charset="0"/>
              </a:rPr>
              <a:t>/home/stuff (/</a:t>
            </a:r>
            <a:r>
              <a:rPr lang="en-US" sz="1800" b="1" dirty="0" err="1">
                <a:latin typeface="Courier New" panose="02070309020205020404" pitchFamily="49" charset="0"/>
              </a:rPr>
              <a:t>dev</a:t>
            </a:r>
            <a:r>
              <a:rPr lang="en-US" sz="1800" b="1" dirty="0">
                <a:latin typeface="Courier New" panose="02070309020205020404" pitchFamily="49" charset="0"/>
              </a:rPr>
              <a:t>/sd3d) has 52176 (57%) free</a:t>
            </a:r>
            <a:endParaRPr lang="en-US"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E43EC486-1388-9FC6-A99C-E19CD84A8F8E}"/>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712354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p:cNvSpPr>
            <a:spLocks noChangeShapeType="1"/>
          </p:cNvSpPr>
          <p:nvPr/>
        </p:nvSpPr>
        <p:spPr bwMode="auto">
          <a:xfrm flipV="1">
            <a:off x="3806053" y="5993916"/>
            <a:ext cx="4438650" cy="1270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GB"/>
          </a:p>
        </p:txBody>
      </p:sp>
      <p:sp>
        <p:nvSpPr>
          <p:cNvPr id="14339" name="Rectangle 3"/>
          <p:cNvSpPr>
            <a:spLocks noChangeArrowheads="1"/>
          </p:cNvSpPr>
          <p:nvPr/>
        </p:nvSpPr>
        <p:spPr bwMode="auto">
          <a:xfrm>
            <a:off x="1337490" y="6186003"/>
            <a:ext cx="1905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14340" name="Rectangle 4"/>
          <p:cNvSpPr>
            <a:spLocks noChangeArrowheads="1"/>
          </p:cNvSpPr>
          <p:nvPr/>
        </p:nvSpPr>
        <p:spPr bwMode="auto">
          <a:xfrm>
            <a:off x="3775890" y="6186003"/>
            <a:ext cx="2895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14341" name="Rectangle 5"/>
          <p:cNvSpPr>
            <a:spLocks noGrp="1" noChangeArrowheads="1"/>
          </p:cNvSpPr>
          <p:nvPr>
            <p:ph type="title"/>
          </p:nvPr>
        </p:nvSpPr>
        <p:spPr>
          <a:xfrm>
            <a:off x="978715" y="317536"/>
            <a:ext cx="11517818" cy="805001"/>
          </a:xfrm>
        </p:spPr>
        <p:txBody>
          <a:bodyPr/>
          <a:lstStyle/>
          <a:p>
            <a:pPr eaLnBrk="1" hangingPunct="1"/>
            <a:r>
              <a:rPr lang="en-GB" dirty="0"/>
              <a:t>Minimal matches</a:t>
            </a:r>
          </a:p>
        </p:txBody>
      </p:sp>
      <p:sp>
        <p:nvSpPr>
          <p:cNvPr id="14342" name="Rectangle 6"/>
          <p:cNvSpPr>
            <a:spLocks noGrp="1" noChangeArrowheads="1"/>
          </p:cNvSpPr>
          <p:nvPr>
            <p:ph idx="1"/>
          </p:nvPr>
        </p:nvSpPr>
        <p:spPr>
          <a:xfrm>
            <a:off x="469860" y="1081475"/>
            <a:ext cx="11516239" cy="4955354"/>
          </a:xfrm>
        </p:spPr>
        <p:txBody>
          <a:bodyPr/>
          <a:lstStyle/>
          <a:p>
            <a:pPr marL="342900" indent="-342900">
              <a:buFont typeface="Arial" panose="020B0604020202020204" pitchFamily="34" charset="0"/>
              <a:buChar char="•"/>
            </a:pPr>
            <a:r>
              <a:rPr lang="en-GB" b="1" dirty="0"/>
              <a:t>A minimal match ends with a question mark.</a:t>
            </a:r>
          </a:p>
          <a:p>
            <a:pPr marL="715963" lvl="1">
              <a:buFont typeface="Arial" panose="020B0604020202020204" pitchFamily="34" charset="0"/>
              <a:buChar char="•"/>
            </a:pPr>
            <a:r>
              <a:rPr lang="en-GB" dirty="0"/>
              <a:t>Match as few times as possible.</a:t>
            </a:r>
          </a:p>
          <a:p>
            <a:pPr lvl="2"/>
            <a:endParaRPr lang="en-GB" dirty="0"/>
          </a:p>
          <a:p>
            <a:pPr lvl="2"/>
            <a:endParaRPr lang="en-GB" dirty="0"/>
          </a:p>
        </p:txBody>
      </p:sp>
      <p:sp>
        <p:nvSpPr>
          <p:cNvPr id="14343" name="Rectangle 7"/>
          <p:cNvSpPr>
            <a:spLocks noChangeArrowheads="1"/>
          </p:cNvSpPr>
          <p:nvPr/>
        </p:nvSpPr>
        <p:spPr bwMode="auto">
          <a:xfrm>
            <a:off x="3777478" y="4598504"/>
            <a:ext cx="5573712" cy="346075"/>
          </a:xfrm>
          <a:prstGeom prst="rect">
            <a:avLst/>
          </a:prstGeom>
          <a:solidFill>
            <a:schemeClr val="bg1"/>
          </a:solidFill>
          <a:ln w="12700">
            <a:solidFill>
              <a:schemeClr val="tx1"/>
            </a:solidFill>
            <a:miter lim="800000"/>
            <a:headEnd/>
            <a:tailEnd/>
          </a:ln>
        </p:spPr>
        <p:txBody>
          <a:bodyPr lIns="90488" tIns="44450" rIns="90488" bIns="44450">
            <a:spAutoFit/>
          </a:bodyPr>
          <a:lstStyle/>
          <a:p>
            <a:pPr>
              <a:spcBef>
                <a:spcPct val="0"/>
              </a:spcBef>
            </a:pPr>
            <a:r>
              <a:rPr lang="en-GB" sz="1600" b="1" dirty="0">
                <a:latin typeface="Courier New" panose="02070309020205020404" pitchFamily="49" charset="0"/>
              </a:rPr>
              <a:t>user1:x:501:501:QA User:/home/user1:/bin/</a:t>
            </a:r>
            <a:r>
              <a:rPr lang="en-GB" sz="1600" b="1" dirty="0" err="1">
                <a:latin typeface="Courier New" panose="02070309020205020404" pitchFamily="49" charset="0"/>
              </a:rPr>
              <a:t>ksh</a:t>
            </a:r>
            <a:endParaRPr lang="en-GB" sz="1600" b="1" dirty="0">
              <a:latin typeface="Courier New" panose="02070309020205020404" pitchFamily="49" charset="0"/>
            </a:endParaRPr>
          </a:p>
        </p:txBody>
      </p:sp>
      <p:sp>
        <p:nvSpPr>
          <p:cNvPr id="14344" name="Line 8"/>
          <p:cNvSpPr>
            <a:spLocks noChangeShapeType="1"/>
          </p:cNvSpPr>
          <p:nvPr/>
        </p:nvSpPr>
        <p:spPr bwMode="auto">
          <a:xfrm>
            <a:off x="4574403" y="4704866"/>
            <a:ext cx="0" cy="7620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GB"/>
          </a:p>
        </p:txBody>
      </p:sp>
      <p:sp>
        <p:nvSpPr>
          <p:cNvPr id="14345" name="Line 9"/>
          <p:cNvSpPr>
            <a:spLocks noChangeShapeType="1"/>
          </p:cNvSpPr>
          <p:nvPr/>
        </p:nvSpPr>
        <p:spPr bwMode="auto">
          <a:xfrm>
            <a:off x="8252640" y="4652478"/>
            <a:ext cx="0" cy="16002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GB"/>
          </a:p>
        </p:txBody>
      </p:sp>
      <p:sp>
        <p:nvSpPr>
          <p:cNvPr id="14346" name="Text Box 10"/>
          <p:cNvSpPr txBox="1">
            <a:spLocks noChangeArrowheads="1"/>
          </p:cNvSpPr>
          <p:nvPr/>
        </p:nvSpPr>
        <p:spPr bwMode="auto">
          <a:xfrm>
            <a:off x="4761728" y="5173178"/>
            <a:ext cx="1598612"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a:t>Minimal match</a:t>
            </a:r>
          </a:p>
        </p:txBody>
      </p:sp>
      <p:sp>
        <p:nvSpPr>
          <p:cNvPr id="14347" name="Text Box 11"/>
          <p:cNvSpPr txBox="1">
            <a:spLocks noChangeArrowheads="1"/>
          </p:cNvSpPr>
          <p:nvPr/>
        </p:nvSpPr>
        <p:spPr bwMode="auto">
          <a:xfrm>
            <a:off x="5252266" y="5824053"/>
            <a:ext cx="1539875" cy="336550"/>
          </a:xfrm>
          <a:prstGeom prst="rect">
            <a:avLst/>
          </a:prstGeom>
          <a:solidFill>
            <a:schemeClr val="bg1"/>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a:t>Greedy match</a:t>
            </a:r>
          </a:p>
        </p:txBody>
      </p:sp>
      <p:sp>
        <p:nvSpPr>
          <p:cNvPr id="14348" name="Text Box 12"/>
          <p:cNvSpPr txBox="1">
            <a:spLocks noChangeArrowheads="1"/>
          </p:cNvSpPr>
          <p:nvPr/>
        </p:nvSpPr>
        <p:spPr bwMode="auto">
          <a:xfrm>
            <a:off x="1107303" y="6198187"/>
            <a:ext cx="4733988" cy="369332"/>
          </a:xfrm>
          <a:prstGeom prst="rect">
            <a:avLst/>
          </a:prstGeom>
          <a:solidFill>
            <a:schemeClr val="accent2"/>
          </a:solidFill>
          <a:ln w="9525">
            <a:solidFill>
              <a:schemeClr val="tx1"/>
            </a:solidFill>
            <a:miter lim="800000"/>
            <a:headEnd/>
            <a:tailEnd/>
          </a:ln>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r>
              <a:rPr lang="en-GB" sz="1800" b="1" dirty="0" err="1">
                <a:latin typeface="Courier New" panose="02070309020205020404" pitchFamily="49" charset="0"/>
              </a:rPr>
              <a:t>re.sub</a:t>
            </a:r>
            <a:r>
              <a:rPr lang="en-GB" sz="1800" b="1" dirty="0">
                <a:latin typeface="Courier New" panose="02070309020205020404" pitchFamily="49" charset="0"/>
              </a:rPr>
              <a:t>('.*:</a:t>
            </a:r>
            <a:r>
              <a:rPr lang="en-US" sz="1800" dirty="0">
                <a:latin typeface="Courier New" panose="02070309020205020404" pitchFamily="49" charset="0"/>
              </a:rPr>
              <a:t>'</a:t>
            </a:r>
            <a:r>
              <a:rPr lang="en-GB" sz="1800" b="1" dirty="0">
                <a:latin typeface="Courier New" panose="02070309020205020404" pitchFamily="49" charset="0"/>
              </a:rPr>
              <a:t>, user1:</a:t>
            </a:r>
            <a:r>
              <a:rPr lang="en-US" sz="1800" dirty="0">
                <a:latin typeface="Courier New" panose="02070309020205020404" pitchFamily="49" charset="0"/>
              </a:rPr>
              <a:t>'</a:t>
            </a:r>
            <a:r>
              <a:rPr lang="en-GB" sz="1800" b="1" dirty="0">
                <a:latin typeface="Courier New" panose="02070309020205020404" pitchFamily="49" charset="0"/>
              </a:rPr>
              <a:t>, passwd, 1)</a:t>
            </a:r>
          </a:p>
        </p:txBody>
      </p:sp>
      <p:sp>
        <p:nvSpPr>
          <p:cNvPr id="14349" name="Line 13"/>
          <p:cNvSpPr>
            <a:spLocks noChangeShapeType="1"/>
          </p:cNvSpPr>
          <p:nvPr/>
        </p:nvSpPr>
        <p:spPr bwMode="auto">
          <a:xfrm>
            <a:off x="3779065" y="4612791"/>
            <a:ext cx="0" cy="16002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GB"/>
          </a:p>
        </p:txBody>
      </p:sp>
      <p:sp>
        <p:nvSpPr>
          <p:cNvPr id="14350" name="AutoShape 14"/>
          <p:cNvSpPr>
            <a:spLocks noChangeArrowheads="1"/>
          </p:cNvSpPr>
          <p:nvPr/>
        </p:nvSpPr>
        <p:spPr bwMode="auto">
          <a:xfrm>
            <a:off x="1450203" y="1939441"/>
            <a:ext cx="7346950" cy="2351850"/>
          </a:xfrm>
          <a:prstGeom prst="roundRect">
            <a:avLst>
              <a:gd name="adj" fmla="val 16667"/>
            </a:avLst>
          </a:prstGeom>
          <a:solidFill>
            <a:schemeClr val="tx2">
              <a:lumMod val="20000"/>
              <a:lumOff val="80000"/>
            </a:schemeClr>
          </a:solidFill>
          <a:ln w="12700">
            <a:solidFill>
              <a:schemeClr val="tx1"/>
            </a:solidFill>
            <a:round/>
            <a:headEnd/>
            <a:tailEnd/>
          </a:ln>
        </p:spPr>
        <p:txBody>
          <a:bodyPr lIns="90488" tIns="44450" rIns="90488" bIns="44450">
            <a:spAutoFit/>
          </a:bodyPr>
          <a:lstStyle/>
          <a:p>
            <a:pPr>
              <a:spcBef>
                <a:spcPct val="5000"/>
              </a:spcBef>
            </a:pPr>
            <a:r>
              <a:rPr lang="en-GB" b="1" dirty="0">
                <a:solidFill>
                  <a:srgbClr val="0246CE"/>
                </a:solidFill>
                <a:latin typeface="Courier New" panose="02070309020205020404" pitchFamily="49" charset="0"/>
              </a:rPr>
              <a:t>+?</a:t>
            </a:r>
            <a:r>
              <a:rPr lang="en-GB" dirty="0">
                <a:solidFill>
                  <a:srgbClr val="0246CE"/>
                </a:solidFill>
              </a:rPr>
              <a:t> 	</a:t>
            </a:r>
            <a:r>
              <a:rPr lang="en-GB" dirty="0"/>
              <a:t>	match one or more times</a:t>
            </a:r>
          </a:p>
          <a:p>
            <a:pPr>
              <a:lnSpc>
                <a:spcPct val="80000"/>
              </a:lnSpc>
              <a:spcBef>
                <a:spcPct val="30000"/>
              </a:spcBef>
            </a:pPr>
            <a:r>
              <a:rPr lang="en-GB" b="1" dirty="0">
                <a:solidFill>
                  <a:srgbClr val="0246CE"/>
                </a:solidFill>
                <a:latin typeface="Courier New" panose="02070309020205020404" pitchFamily="49" charset="0"/>
              </a:rPr>
              <a:t>*?</a:t>
            </a:r>
            <a:r>
              <a:rPr lang="en-GB" dirty="0">
                <a:solidFill>
                  <a:srgbClr val="0246CE"/>
                </a:solidFill>
                <a:latin typeface="Courier New" panose="02070309020205020404" pitchFamily="49" charset="0"/>
              </a:rPr>
              <a:t> </a:t>
            </a:r>
            <a:r>
              <a:rPr lang="en-GB" dirty="0">
                <a:solidFill>
                  <a:srgbClr val="0246CE"/>
                </a:solidFill>
              </a:rPr>
              <a:t>	</a:t>
            </a:r>
            <a:r>
              <a:rPr lang="en-GB" dirty="0"/>
              <a:t>	match zero or more times</a:t>
            </a:r>
          </a:p>
          <a:p>
            <a:pPr>
              <a:lnSpc>
                <a:spcPct val="80000"/>
              </a:lnSpc>
              <a:spcBef>
                <a:spcPct val="30000"/>
              </a:spcBef>
            </a:pPr>
            <a:r>
              <a:rPr lang="en-GB" b="1" dirty="0">
                <a:solidFill>
                  <a:srgbClr val="0246CE"/>
                </a:solidFill>
                <a:latin typeface="Courier New" panose="02070309020205020404" pitchFamily="49" charset="0"/>
              </a:rPr>
              <a:t>??</a:t>
            </a:r>
            <a:r>
              <a:rPr lang="en-GB" dirty="0">
                <a:solidFill>
                  <a:srgbClr val="0246CE"/>
                </a:solidFill>
              </a:rPr>
              <a:t>	</a:t>
            </a:r>
            <a:r>
              <a:rPr lang="en-GB" dirty="0"/>
              <a:t>	match 0 or 1 times, preferably 0</a:t>
            </a:r>
          </a:p>
          <a:p>
            <a:pPr>
              <a:lnSpc>
                <a:spcPct val="80000"/>
              </a:lnSpc>
              <a:spcBef>
                <a:spcPct val="30000"/>
              </a:spcBef>
            </a:pPr>
            <a:r>
              <a:rPr lang="en-GB" b="1" dirty="0">
                <a:solidFill>
                  <a:srgbClr val="0246CE"/>
                </a:solidFill>
                <a:latin typeface="Courier New" panose="02070309020205020404" pitchFamily="49" charset="0"/>
              </a:rPr>
              <a:t>{</a:t>
            </a:r>
            <a:r>
              <a:rPr lang="en-GB" b="1" i="1" dirty="0">
                <a:latin typeface="Courier New" panose="02070309020205020404" pitchFamily="49" charset="0"/>
              </a:rPr>
              <a:t>n</a:t>
            </a:r>
            <a:r>
              <a:rPr lang="en-GB" b="1" dirty="0">
                <a:solidFill>
                  <a:srgbClr val="0246CE"/>
                </a:solidFill>
                <a:latin typeface="Courier New" panose="02070309020205020404" pitchFamily="49" charset="0"/>
              </a:rPr>
              <a:t>}?</a:t>
            </a:r>
            <a:r>
              <a:rPr lang="en-GB" dirty="0">
                <a:solidFill>
                  <a:srgbClr val="0246CE"/>
                </a:solidFill>
              </a:rPr>
              <a:t>	</a:t>
            </a:r>
            <a:r>
              <a:rPr lang="en-GB" dirty="0"/>
              <a:t>	match </a:t>
            </a:r>
            <a:r>
              <a:rPr lang="en-GB" i="1" dirty="0"/>
              <a:t>n</a:t>
            </a:r>
            <a:r>
              <a:rPr lang="en-GB" dirty="0"/>
              <a:t> times (same as </a:t>
            </a:r>
            <a:r>
              <a:rPr lang="en-GB" dirty="0">
                <a:latin typeface="Courier New" panose="02070309020205020404" pitchFamily="49" charset="0"/>
              </a:rPr>
              <a:t>{</a:t>
            </a:r>
            <a:r>
              <a:rPr lang="en-GB" i="1" dirty="0">
                <a:latin typeface="Courier New" panose="02070309020205020404" pitchFamily="49" charset="0"/>
              </a:rPr>
              <a:t>n</a:t>
            </a:r>
            <a:r>
              <a:rPr lang="en-GB" dirty="0">
                <a:latin typeface="Courier New" panose="02070309020205020404" pitchFamily="49" charset="0"/>
              </a:rPr>
              <a:t>}</a:t>
            </a:r>
            <a:r>
              <a:rPr lang="en-GB" dirty="0"/>
              <a:t>)</a:t>
            </a:r>
          </a:p>
          <a:p>
            <a:pPr>
              <a:lnSpc>
                <a:spcPct val="80000"/>
              </a:lnSpc>
              <a:spcBef>
                <a:spcPct val="30000"/>
              </a:spcBef>
            </a:pPr>
            <a:r>
              <a:rPr lang="en-GB" b="1" dirty="0">
                <a:solidFill>
                  <a:srgbClr val="0246CE"/>
                </a:solidFill>
                <a:latin typeface="Courier New" panose="02070309020205020404" pitchFamily="49" charset="0"/>
              </a:rPr>
              <a:t>{</a:t>
            </a:r>
            <a:r>
              <a:rPr lang="en-GB" b="1" i="1" dirty="0">
                <a:latin typeface="Courier New" panose="02070309020205020404" pitchFamily="49" charset="0"/>
              </a:rPr>
              <a:t>n</a:t>
            </a:r>
            <a:r>
              <a:rPr lang="en-GB" b="1" dirty="0">
                <a:solidFill>
                  <a:srgbClr val="0246CE"/>
                </a:solidFill>
                <a:latin typeface="Courier New" panose="02070309020205020404" pitchFamily="49" charset="0"/>
              </a:rPr>
              <a:t>,}?</a:t>
            </a:r>
            <a:r>
              <a:rPr lang="en-GB" dirty="0">
                <a:solidFill>
                  <a:srgbClr val="0246CE"/>
                </a:solidFill>
              </a:rPr>
              <a:t>		</a:t>
            </a:r>
            <a:r>
              <a:rPr lang="en-GB" dirty="0"/>
              <a:t>match at least </a:t>
            </a:r>
            <a:r>
              <a:rPr lang="en-GB" i="1" dirty="0"/>
              <a:t>n</a:t>
            </a:r>
            <a:r>
              <a:rPr lang="en-GB" dirty="0"/>
              <a:t> times, stop as soon as possible</a:t>
            </a:r>
          </a:p>
          <a:p>
            <a:pPr>
              <a:lnSpc>
                <a:spcPct val="80000"/>
              </a:lnSpc>
              <a:spcBef>
                <a:spcPct val="30000"/>
              </a:spcBef>
            </a:pPr>
            <a:r>
              <a:rPr lang="en-GB" b="1" dirty="0">
                <a:solidFill>
                  <a:srgbClr val="0246CE"/>
                </a:solidFill>
                <a:latin typeface="Courier New" panose="02070309020205020404" pitchFamily="49" charset="0"/>
              </a:rPr>
              <a:t>{</a:t>
            </a:r>
            <a:r>
              <a:rPr lang="en-GB" b="1" i="1" dirty="0" err="1">
                <a:latin typeface="Courier New" panose="02070309020205020404" pitchFamily="49" charset="0"/>
              </a:rPr>
              <a:t>n</a:t>
            </a:r>
            <a:r>
              <a:rPr lang="en-GB" b="1" dirty="0" err="1">
                <a:solidFill>
                  <a:srgbClr val="0246CE"/>
                </a:solidFill>
                <a:latin typeface="Courier New" panose="02070309020205020404" pitchFamily="49" charset="0"/>
              </a:rPr>
              <a:t>,</a:t>
            </a:r>
            <a:r>
              <a:rPr lang="en-GB" b="1" i="1" dirty="0" err="1">
                <a:latin typeface="Courier New" panose="02070309020205020404" pitchFamily="49" charset="0"/>
              </a:rPr>
              <a:t>m</a:t>
            </a:r>
            <a:r>
              <a:rPr lang="en-GB" b="1" dirty="0">
                <a:solidFill>
                  <a:srgbClr val="0246CE"/>
                </a:solidFill>
                <a:latin typeface="Courier New" panose="02070309020205020404" pitchFamily="49" charset="0"/>
              </a:rPr>
              <a:t>}?</a:t>
            </a:r>
            <a:r>
              <a:rPr lang="en-GB" b="1" dirty="0">
                <a:solidFill>
                  <a:srgbClr val="0246CE"/>
                </a:solidFill>
              </a:rPr>
              <a:t>	</a:t>
            </a:r>
            <a:r>
              <a:rPr lang="en-GB" dirty="0"/>
              <a:t>	match </a:t>
            </a:r>
            <a:r>
              <a:rPr lang="en-GB" i="1" dirty="0"/>
              <a:t>n</a:t>
            </a:r>
            <a:r>
              <a:rPr lang="en-GB" dirty="0"/>
              <a:t> to </a:t>
            </a:r>
            <a:r>
              <a:rPr lang="en-GB" i="1" dirty="0"/>
              <a:t>m</a:t>
            </a:r>
            <a:r>
              <a:rPr lang="en-GB" dirty="0"/>
              <a:t> times, stop as soon as possible</a:t>
            </a:r>
          </a:p>
        </p:txBody>
      </p:sp>
      <p:sp>
        <p:nvSpPr>
          <p:cNvPr id="14351" name="Line 15"/>
          <p:cNvSpPr>
            <a:spLocks noChangeShapeType="1"/>
          </p:cNvSpPr>
          <p:nvPr/>
        </p:nvSpPr>
        <p:spPr bwMode="auto">
          <a:xfrm>
            <a:off x="3779065" y="5417653"/>
            <a:ext cx="768350" cy="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GB"/>
          </a:p>
        </p:txBody>
      </p:sp>
      <p:sp>
        <p:nvSpPr>
          <p:cNvPr id="14352" name="Text Box 16"/>
          <p:cNvSpPr txBox="1">
            <a:spLocks noChangeArrowheads="1"/>
          </p:cNvSpPr>
          <p:nvPr/>
        </p:nvSpPr>
        <p:spPr bwMode="auto">
          <a:xfrm>
            <a:off x="1178741" y="4146343"/>
            <a:ext cx="4871847" cy="369332"/>
          </a:xfrm>
          <a:prstGeom prst="rect">
            <a:avLst/>
          </a:prstGeom>
          <a:solidFill>
            <a:schemeClr val="accent2"/>
          </a:solidFill>
          <a:ln w="9525">
            <a:solidFill>
              <a:schemeClr val="tx1"/>
            </a:solidFill>
            <a:miter lim="800000"/>
            <a:headEnd/>
            <a:tailEnd/>
          </a:ln>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r>
              <a:rPr lang="en-GB" sz="1800" b="1" dirty="0" err="1">
                <a:latin typeface="Courier New" panose="02070309020205020404" pitchFamily="49" charset="0"/>
              </a:rPr>
              <a:t>re.sub</a:t>
            </a:r>
            <a:r>
              <a:rPr lang="en-GB" sz="1800" b="1" dirty="0">
                <a:latin typeface="Courier New" panose="02070309020205020404" pitchFamily="49" charset="0"/>
              </a:rPr>
              <a:t>('.*?:</a:t>
            </a:r>
            <a:r>
              <a:rPr lang="en-US" sz="1800" dirty="0">
                <a:latin typeface="Courier New" panose="02070309020205020404" pitchFamily="49" charset="0"/>
              </a:rPr>
              <a:t>'</a:t>
            </a:r>
            <a:r>
              <a:rPr lang="en-GB" sz="1800" b="1" dirty="0">
                <a:latin typeface="Courier New" panose="02070309020205020404" pitchFamily="49" charset="0"/>
              </a:rPr>
              <a:t>, user1:</a:t>
            </a:r>
            <a:r>
              <a:rPr lang="en-US" sz="1800" dirty="0">
                <a:latin typeface="Courier New" panose="02070309020205020404" pitchFamily="49" charset="0"/>
              </a:rPr>
              <a:t>'</a:t>
            </a:r>
            <a:r>
              <a:rPr lang="en-GB" sz="1800" b="1" dirty="0">
                <a:latin typeface="Courier New" panose="02070309020205020404" pitchFamily="49" charset="0"/>
              </a:rPr>
              <a:t>, passwd, 1)</a:t>
            </a:r>
          </a:p>
        </p:txBody>
      </p:sp>
      <p:sp>
        <p:nvSpPr>
          <p:cNvPr id="14353" name="Text Box 17"/>
          <p:cNvSpPr txBox="1">
            <a:spLocks noChangeArrowheads="1"/>
          </p:cNvSpPr>
          <p:nvPr/>
        </p:nvSpPr>
        <p:spPr bwMode="auto">
          <a:xfrm>
            <a:off x="3779066" y="5064226"/>
            <a:ext cx="92525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dirty="0">
                <a:latin typeface="Courier New" panose="02070309020205020404" pitchFamily="49" charset="0"/>
              </a:rPr>
              <a:t>user1:</a:t>
            </a:r>
          </a:p>
        </p:txBody>
      </p:sp>
      <p:sp>
        <p:nvSpPr>
          <p:cNvPr id="14354" name="Text Box 18"/>
          <p:cNvSpPr txBox="1">
            <a:spLocks noChangeArrowheads="1"/>
          </p:cNvSpPr>
          <p:nvPr/>
        </p:nvSpPr>
        <p:spPr bwMode="auto">
          <a:xfrm>
            <a:off x="5934954" y="6148507"/>
            <a:ext cx="92525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dirty="0">
                <a:latin typeface="Courier New" panose="02070309020205020404" pitchFamily="49" charset="0"/>
              </a:rPr>
              <a:t>user1:</a:t>
            </a:r>
          </a:p>
        </p:txBody>
      </p:sp>
      <p:sp>
        <p:nvSpPr>
          <p:cNvPr id="2" name="Slide Number Placeholder 1">
            <a:extLst>
              <a:ext uri="{FF2B5EF4-FFF2-40B4-BE49-F238E27FC236}">
                <a16:creationId xmlns:a16="http://schemas.microsoft.com/office/drawing/2014/main" id="{2DF486B4-D9FE-2757-CF1B-E08EBE284E03}"/>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412662941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80994" y="335815"/>
            <a:ext cx="11517818" cy="805001"/>
          </a:xfrm>
        </p:spPr>
        <p:txBody>
          <a:bodyPr/>
          <a:lstStyle/>
          <a:p>
            <a:pPr eaLnBrk="1" hangingPunct="1"/>
            <a:r>
              <a:rPr lang="en-GB" dirty="0"/>
              <a:t>Multi-line matches</a:t>
            </a:r>
          </a:p>
        </p:txBody>
      </p:sp>
      <p:sp>
        <p:nvSpPr>
          <p:cNvPr id="15363"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t>Python allows searching a pattern across multiple lines:</a:t>
            </a:r>
          </a:p>
          <a:p>
            <a:pPr marL="715963" lvl="1">
              <a:buFont typeface="Arial" panose="020B0604020202020204" pitchFamily="34" charset="0"/>
              <a:buChar char="•"/>
            </a:pPr>
            <a:r>
              <a:rPr lang="en-GB" dirty="0"/>
              <a:t>Just search a text which contains embedded "</a:t>
            </a:r>
            <a:r>
              <a:rPr lang="en-GB" dirty="0">
                <a:latin typeface="Courier New" panose="02070309020205020404" pitchFamily="49" charset="0"/>
              </a:rPr>
              <a:t>\n"</a:t>
            </a:r>
            <a:r>
              <a:rPr lang="en-GB" dirty="0"/>
              <a:t> characters.</a:t>
            </a:r>
          </a:p>
          <a:p>
            <a:pPr marL="715963" lvl="1">
              <a:buFont typeface="Arial" panose="020B0604020202020204" pitchFamily="34" charset="0"/>
              <a:buChar char="•"/>
            </a:pPr>
            <a:endParaRPr lang="en-GB" dirty="0"/>
          </a:p>
          <a:p>
            <a:pPr marL="342900" indent="-342900">
              <a:buFont typeface="Arial" panose="020B0604020202020204" pitchFamily="34" charset="0"/>
              <a:buChar char="•"/>
            </a:pPr>
            <a:r>
              <a:rPr lang="en-GB" b="1" dirty="0"/>
              <a:t>However, Python is normally cautious:</a:t>
            </a:r>
          </a:p>
          <a:p>
            <a:pPr marL="715963" lvl="1">
              <a:buFont typeface="Arial" panose="020B0604020202020204" pitchFamily="34" charset="0"/>
              <a:buChar char="•"/>
            </a:pPr>
            <a:r>
              <a:rPr lang="en-GB" dirty="0">
                <a:latin typeface="Courier New" panose="02070309020205020404" pitchFamily="49" charset="0"/>
              </a:rPr>
              <a:t>.</a:t>
            </a:r>
            <a:r>
              <a:rPr lang="en-GB" dirty="0"/>
              <a:t> character class does not match newline.</a:t>
            </a:r>
          </a:p>
          <a:p>
            <a:pPr marL="715963" lvl="1">
              <a:buFont typeface="Arial" panose="020B0604020202020204" pitchFamily="34" charset="0"/>
              <a:buChar char="•"/>
            </a:pPr>
            <a:r>
              <a:rPr lang="en-GB" dirty="0">
                <a:latin typeface="Courier New" panose="02070309020205020404" pitchFamily="49" charset="0"/>
              </a:rPr>
              <a:t>.*</a:t>
            </a:r>
            <a:r>
              <a:rPr lang="en-GB" dirty="0"/>
              <a:t> will only go until the end of the line.</a:t>
            </a:r>
          </a:p>
          <a:p>
            <a:pPr marL="449263" lvl="1" indent="0">
              <a:buNone/>
            </a:pPr>
            <a:endParaRPr lang="en-GB" dirty="0"/>
          </a:p>
          <a:p>
            <a:pPr marL="342900" indent="-342900">
              <a:buFont typeface="Arial" panose="020B0604020202020204" pitchFamily="34" charset="0"/>
              <a:buChar char="•"/>
            </a:pPr>
            <a:r>
              <a:rPr lang="en-GB" b="1" dirty="0" err="1">
                <a:latin typeface="Courier New" panose="02070309020205020404" pitchFamily="49" charset="0"/>
              </a:rPr>
              <a:t>re.S</a:t>
            </a:r>
            <a:r>
              <a:rPr lang="en-GB" b="1" dirty="0"/>
              <a:t> flag treats "</a:t>
            </a:r>
            <a:r>
              <a:rPr lang="en-GB" b="1" dirty="0">
                <a:latin typeface="Courier New" panose="02070309020205020404" pitchFamily="49" charset="0"/>
              </a:rPr>
              <a:t>\n"</a:t>
            </a:r>
            <a:r>
              <a:rPr lang="en-GB" b="1" dirty="0"/>
              <a:t> as a normal character:</a:t>
            </a:r>
          </a:p>
          <a:p>
            <a:pPr marL="715963" lvl="1">
              <a:buFont typeface="Arial" panose="020B0604020202020204" pitchFamily="34" charset="0"/>
              <a:buChar char="•"/>
            </a:pPr>
            <a:r>
              <a:rPr lang="en-GB" dirty="0">
                <a:latin typeface="Courier New" panose="02070309020205020404" pitchFamily="49" charset="0"/>
              </a:rPr>
              <a:t>.</a:t>
            </a:r>
            <a:r>
              <a:rPr lang="en-GB" dirty="0"/>
              <a:t> matches any character, including newline.</a:t>
            </a:r>
          </a:p>
          <a:p>
            <a:pPr marL="715963" lvl="1">
              <a:buFont typeface="Arial" panose="020B0604020202020204" pitchFamily="34" charset="0"/>
              <a:buChar char="•"/>
            </a:pPr>
            <a:r>
              <a:rPr lang="en-GB" dirty="0">
                <a:latin typeface="Courier New" panose="02070309020205020404" pitchFamily="49" charset="0"/>
              </a:rPr>
              <a:t>.*</a:t>
            </a:r>
            <a:r>
              <a:rPr lang="en-GB" dirty="0"/>
              <a:t> will match until the end of the search text.</a:t>
            </a:r>
          </a:p>
          <a:p>
            <a:pPr marL="715963" lvl="1">
              <a:buFont typeface="Arial" panose="020B0604020202020204" pitchFamily="34" charset="0"/>
              <a:buChar char="•"/>
            </a:pPr>
            <a:r>
              <a:rPr lang="en-GB" dirty="0">
                <a:latin typeface="Courier New" panose="02070309020205020404" pitchFamily="49" charset="0"/>
              </a:rPr>
              <a:t>\s</a:t>
            </a:r>
            <a:r>
              <a:rPr lang="en-GB" dirty="0"/>
              <a:t> and </a:t>
            </a:r>
            <a:r>
              <a:rPr lang="en-GB" dirty="0">
                <a:latin typeface="Courier New" panose="02070309020205020404" pitchFamily="49" charset="0"/>
              </a:rPr>
              <a:t>\S</a:t>
            </a:r>
            <a:r>
              <a:rPr lang="en-GB" dirty="0"/>
              <a:t> shortcuts are not affected.</a:t>
            </a:r>
          </a:p>
        </p:txBody>
      </p:sp>
      <p:sp>
        <p:nvSpPr>
          <p:cNvPr id="2" name="Slide Number Placeholder 1">
            <a:extLst>
              <a:ext uri="{FF2B5EF4-FFF2-40B4-BE49-F238E27FC236}">
                <a16:creationId xmlns:a16="http://schemas.microsoft.com/office/drawing/2014/main" id="{36C25445-4902-732B-9791-488556642955}"/>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68018140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58864" y="276033"/>
            <a:ext cx="11517818" cy="805001"/>
          </a:xfrm>
        </p:spPr>
        <p:txBody>
          <a:bodyPr/>
          <a:lstStyle/>
          <a:p>
            <a:pPr eaLnBrk="1" hangingPunct="1"/>
            <a:r>
              <a:rPr lang="en-GB" dirty="0"/>
              <a:t>Multi-line matches</a:t>
            </a:r>
          </a:p>
        </p:txBody>
      </p:sp>
      <p:sp>
        <p:nvSpPr>
          <p:cNvPr id="16387"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t>Normally, </a:t>
            </a:r>
            <a:r>
              <a:rPr lang="en-GB" b="1" dirty="0">
                <a:latin typeface="Courier New" panose="02070309020205020404" pitchFamily="49" charset="0"/>
              </a:rPr>
              <a:t>^</a:t>
            </a:r>
            <a:r>
              <a:rPr lang="en-GB" b="1" dirty="0"/>
              <a:t> and </a:t>
            </a:r>
            <a:r>
              <a:rPr lang="en-GB" b="1" dirty="0">
                <a:latin typeface="Courier New" panose="02070309020205020404" pitchFamily="49" charset="0"/>
              </a:rPr>
              <a:t>$</a:t>
            </a:r>
            <a:r>
              <a:rPr lang="en-GB" b="1" dirty="0"/>
              <a:t> mean: start and end of search text.</a:t>
            </a:r>
          </a:p>
          <a:p>
            <a:pPr marL="342900" indent="-342900">
              <a:buFont typeface="Arial" panose="020B0604020202020204" pitchFamily="34" charset="0"/>
              <a:buChar char="•"/>
            </a:pPr>
            <a:r>
              <a:rPr lang="en-GB" b="1" dirty="0"/>
              <a:t>For multiple-line matches, this may be inconvenient.</a:t>
            </a:r>
          </a:p>
          <a:p>
            <a:pPr marL="715963" lvl="1">
              <a:buFont typeface="Arial" panose="020B0604020202020204" pitchFamily="34" charset="0"/>
              <a:buChar char="•"/>
            </a:pPr>
            <a:r>
              <a:rPr lang="en-GB" dirty="0"/>
              <a:t>You may want to search the start and end of each line in the text.</a:t>
            </a:r>
          </a:p>
          <a:p>
            <a:pPr marL="342900" indent="-342900">
              <a:buFont typeface="Arial" panose="020B0604020202020204" pitchFamily="34" charset="0"/>
              <a:buChar char="•"/>
            </a:pPr>
            <a:r>
              <a:rPr lang="en-GB" b="1" dirty="0" err="1">
                <a:latin typeface="Courier New" panose="02070309020205020404" pitchFamily="49" charset="0"/>
              </a:rPr>
              <a:t>re.M</a:t>
            </a:r>
            <a:r>
              <a:rPr lang="en-GB" b="1" dirty="0"/>
              <a:t> matches </a:t>
            </a:r>
            <a:r>
              <a:rPr lang="en-GB" b="1" dirty="0">
                <a:latin typeface="Courier New" panose="02070309020205020404" pitchFamily="49" charset="0"/>
              </a:rPr>
              <a:t>^</a:t>
            </a:r>
            <a:r>
              <a:rPr lang="en-GB" b="1" dirty="0"/>
              <a:t> and </a:t>
            </a:r>
            <a:r>
              <a:rPr lang="en-GB" b="1" dirty="0">
                <a:latin typeface="Courier New" panose="02070309020205020404" pitchFamily="49" charset="0"/>
              </a:rPr>
              <a:t>$</a:t>
            </a:r>
            <a:r>
              <a:rPr lang="en-GB" b="1" dirty="0"/>
              <a:t> for each line within search text.</a:t>
            </a:r>
          </a:p>
          <a:p>
            <a:pPr marL="715963" lvl="1">
              <a:buFont typeface="Arial" panose="020B0604020202020204" pitchFamily="34" charset="0"/>
              <a:buChar char="•"/>
            </a:pPr>
            <a:r>
              <a:rPr lang="en-GB" dirty="0"/>
              <a:t>Can be combined with </a:t>
            </a:r>
            <a:r>
              <a:rPr lang="en-GB" dirty="0" err="1">
                <a:latin typeface="Courier New" panose="02070309020205020404" pitchFamily="49" charset="0"/>
              </a:rPr>
              <a:t>re.S</a:t>
            </a:r>
            <a:r>
              <a:rPr lang="en-GB" dirty="0"/>
              <a:t> option.</a:t>
            </a:r>
          </a:p>
        </p:txBody>
      </p:sp>
      <p:sp>
        <p:nvSpPr>
          <p:cNvPr id="16388" name="Rectangle 4"/>
          <p:cNvSpPr>
            <a:spLocks noChangeArrowheads="1"/>
          </p:cNvSpPr>
          <p:nvPr/>
        </p:nvSpPr>
        <p:spPr bwMode="auto">
          <a:xfrm>
            <a:off x="1058864" y="3707526"/>
            <a:ext cx="8054975" cy="2328862"/>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GB" dirty="0">
                <a:latin typeface="Courier New" panose="02070309020205020404" pitchFamily="49" charset="0"/>
              </a:rPr>
              <a:t>all = open('names.txt').read() </a:t>
            </a:r>
          </a:p>
          <a:p>
            <a:pPr>
              <a:spcBef>
                <a:spcPct val="0"/>
              </a:spcBef>
            </a:pPr>
            <a:endParaRPr lang="en-GB" sz="800" dirty="0">
              <a:latin typeface="Courier New" panose="02070309020205020404" pitchFamily="49" charset="0"/>
            </a:endParaRPr>
          </a:p>
          <a:p>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(r'(^</a:t>
            </a:r>
            <a:r>
              <a:rPr lang="en-GB" dirty="0" err="1">
                <a:latin typeface="Courier New" panose="02070309020205020404" pitchFamily="49" charset="0"/>
              </a:rPr>
              <a:t>dpm</a:t>
            </a:r>
            <a:r>
              <a:rPr lang="en-GB" dirty="0">
                <a:latin typeface="Courier New" panose="02070309020205020404" pitchFamily="49" charset="0"/>
              </a:rPr>
              <a:t>|^</a:t>
            </a:r>
            <a:r>
              <a:rPr lang="en-GB" dirty="0" err="1">
                <a:latin typeface="Courier New" panose="02070309020205020404" pitchFamily="49" charset="0"/>
              </a:rPr>
              <a:t>james</a:t>
            </a:r>
            <a:r>
              <a:rPr lang="en-GB" dirty="0">
                <a:latin typeface="Courier New" panose="02070309020205020404" pitchFamily="49" charset="0"/>
              </a:rPr>
              <a:t>)</a:t>
            </a:r>
            <a:r>
              <a:rPr lang="en-US" dirty="0">
                <a:latin typeface="Courier New" panose="02070309020205020404" pitchFamily="49" charset="0"/>
              </a:rPr>
              <a:t>'</a:t>
            </a:r>
            <a:r>
              <a:rPr lang="en-GB" dirty="0">
                <a:latin typeface="Courier New" panose="02070309020205020404" pitchFamily="49" charset="0"/>
              </a:rPr>
              <a:t>, </a:t>
            </a:r>
            <a:r>
              <a:rPr lang="en-GB" dirty="0" err="1">
                <a:latin typeface="Courier New" panose="02070309020205020404" pitchFamily="49" charset="0"/>
              </a:rPr>
              <a:t>all,re.I</a:t>
            </a:r>
            <a:r>
              <a:rPr lang="en-GB" dirty="0">
                <a:latin typeface="Courier New" panose="02070309020205020404" pitchFamily="49" charset="0"/>
              </a:rPr>
              <a:t>)</a:t>
            </a:r>
          </a:p>
          <a:p>
            <a:pPr>
              <a:spcBef>
                <a:spcPct val="0"/>
              </a:spcBef>
            </a:pPr>
            <a:r>
              <a:rPr lang="en-GB" dirty="0">
                <a:latin typeface="Courier New" panose="02070309020205020404" pitchFamily="49" charset="0"/>
              </a:rPr>
              <a:t>if m:</a:t>
            </a:r>
          </a:p>
          <a:p>
            <a:r>
              <a:rPr lang="en-GB" dirty="0">
                <a:latin typeface="Courier New" panose="02070309020205020404" pitchFamily="49" charset="0"/>
              </a:rPr>
              <a:t>    print(</a:t>
            </a:r>
            <a:r>
              <a:rPr lang="en-US" dirty="0">
                <a:latin typeface="Courier New" panose="02070309020205020404" pitchFamily="49" charset="0"/>
              </a:rPr>
              <a:t>'</a:t>
            </a:r>
            <a:r>
              <a:rPr lang="en-GB" dirty="0">
                <a:latin typeface="Courier New" panose="02070309020205020404" pitchFamily="49" charset="0"/>
              </a:rPr>
              <a:t>File starts with</a:t>
            </a:r>
            <a:r>
              <a:rPr lang="en-US" dirty="0">
                <a:latin typeface="Courier New" panose="02070309020205020404" pitchFamily="49" charset="0"/>
              </a:rPr>
              <a:t>'</a:t>
            </a:r>
            <a:r>
              <a:rPr lang="en-GB" dirty="0">
                <a:latin typeface="Courier New" panose="02070309020205020404" pitchFamily="49" charset="0"/>
              </a:rPr>
              <a:t>, </a:t>
            </a:r>
            <a:r>
              <a:rPr lang="en-GB" dirty="0" err="1">
                <a:latin typeface="Courier New" panose="02070309020205020404" pitchFamily="49" charset="0"/>
              </a:rPr>
              <a:t>m.groups</a:t>
            </a:r>
            <a:r>
              <a:rPr lang="en-GB" dirty="0">
                <a:latin typeface="Courier New" panose="02070309020205020404" pitchFamily="49" charset="0"/>
              </a:rPr>
              <a:t>())</a:t>
            </a:r>
          </a:p>
          <a:p>
            <a:pPr>
              <a:spcBef>
                <a:spcPct val="0"/>
              </a:spcBef>
            </a:pPr>
            <a:endParaRPr lang="en-GB" sz="1200" dirty="0">
              <a:latin typeface="Courier New" panose="02070309020205020404" pitchFamily="49" charset="0"/>
            </a:endParaRPr>
          </a:p>
          <a:p>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(r'(^</a:t>
            </a:r>
            <a:r>
              <a:rPr lang="en-GB" dirty="0" err="1">
                <a:latin typeface="Courier New" panose="02070309020205020404" pitchFamily="49" charset="0"/>
              </a:rPr>
              <a:t>dpm</a:t>
            </a:r>
            <a:r>
              <a:rPr lang="en-GB" dirty="0">
                <a:latin typeface="Courier New" panose="02070309020205020404" pitchFamily="49" charset="0"/>
              </a:rPr>
              <a:t>|^</a:t>
            </a:r>
            <a:r>
              <a:rPr lang="en-GB" dirty="0" err="1">
                <a:latin typeface="Courier New" panose="02070309020205020404" pitchFamily="49" charset="0"/>
              </a:rPr>
              <a:t>james</a:t>
            </a:r>
            <a:r>
              <a:rPr lang="en-GB" dirty="0">
                <a:latin typeface="Courier New" panose="02070309020205020404" pitchFamily="49" charset="0"/>
              </a:rPr>
              <a:t>)</a:t>
            </a:r>
            <a:r>
              <a:rPr lang="en-US" dirty="0">
                <a:latin typeface="Courier New" panose="02070309020205020404" pitchFamily="49" charset="0"/>
              </a:rPr>
              <a:t>'</a:t>
            </a:r>
            <a:r>
              <a:rPr lang="en-GB" dirty="0">
                <a:latin typeface="Courier New" panose="02070309020205020404" pitchFamily="49" charset="0"/>
              </a:rPr>
              <a:t>, all, </a:t>
            </a:r>
            <a:r>
              <a:rPr lang="en-GB" dirty="0" err="1">
                <a:latin typeface="Courier New" panose="02070309020205020404" pitchFamily="49" charset="0"/>
              </a:rPr>
              <a:t>re.I|</a:t>
            </a:r>
            <a:r>
              <a:rPr lang="en-GB" b="1" dirty="0" err="1">
                <a:latin typeface="Courier New" panose="02070309020205020404" pitchFamily="49" charset="0"/>
              </a:rPr>
              <a:t>re.M</a:t>
            </a:r>
            <a:r>
              <a:rPr lang="en-GB" dirty="0">
                <a:latin typeface="Courier New" panose="02070309020205020404" pitchFamily="49" charset="0"/>
              </a:rPr>
              <a:t>)</a:t>
            </a:r>
          </a:p>
          <a:p>
            <a:pPr>
              <a:spcBef>
                <a:spcPct val="0"/>
              </a:spcBef>
            </a:pPr>
            <a:r>
              <a:rPr lang="en-GB" dirty="0">
                <a:latin typeface="Courier New" panose="02070309020205020404" pitchFamily="49" charset="0"/>
              </a:rPr>
              <a:t>if m:</a:t>
            </a:r>
          </a:p>
          <a:p>
            <a:r>
              <a:rPr lang="en-GB" dirty="0">
                <a:latin typeface="Courier New" panose="02070309020205020404" pitchFamily="49" charset="0"/>
              </a:rPr>
              <a:t>    print(</a:t>
            </a:r>
            <a:r>
              <a:rPr lang="en-US" dirty="0">
                <a:latin typeface="Courier New" panose="02070309020205020404" pitchFamily="49" charset="0"/>
              </a:rPr>
              <a:t>'</a:t>
            </a:r>
            <a:r>
              <a:rPr lang="en-GB" dirty="0">
                <a:latin typeface="Courier New" panose="02070309020205020404" pitchFamily="49" charset="0"/>
              </a:rPr>
              <a:t>A line in the file starts with</a:t>
            </a:r>
            <a:r>
              <a:rPr lang="en-US" dirty="0">
                <a:latin typeface="Courier New" panose="02070309020205020404" pitchFamily="49" charset="0"/>
              </a:rPr>
              <a:t>'</a:t>
            </a:r>
            <a:r>
              <a:rPr lang="en-GB" dirty="0">
                <a:latin typeface="Courier New" panose="02070309020205020404" pitchFamily="49" charset="0"/>
              </a:rPr>
              <a:t>, </a:t>
            </a:r>
            <a:r>
              <a:rPr lang="en-GB" dirty="0" err="1">
                <a:latin typeface="Courier New" panose="02070309020205020404" pitchFamily="49" charset="0"/>
              </a:rPr>
              <a:t>m.groups</a:t>
            </a:r>
            <a:r>
              <a:rPr lang="en-GB" dirty="0">
                <a:latin typeface="Courier New" panose="02070309020205020404" pitchFamily="49" charset="0"/>
              </a:rPr>
              <a:t>())</a:t>
            </a:r>
          </a:p>
        </p:txBody>
      </p:sp>
      <p:sp>
        <p:nvSpPr>
          <p:cNvPr id="5" name="TextBox 4"/>
          <p:cNvSpPr txBox="1"/>
          <p:nvPr/>
        </p:nvSpPr>
        <p:spPr>
          <a:xfrm>
            <a:off x="8113714" y="3285251"/>
            <a:ext cx="801687" cy="1954212"/>
          </a:xfrm>
          <a:prstGeom prst="rect">
            <a:avLst/>
          </a:prstGeom>
          <a:solidFill>
            <a:schemeClr val="accent4">
              <a:lumMod val="10000"/>
              <a:lumOff val="90000"/>
            </a:schemeClr>
          </a:solidFill>
          <a:ln>
            <a:solidFill>
              <a:schemeClr val="tx1"/>
            </a:solidFill>
          </a:ln>
        </p:spPr>
        <p:txBody>
          <a:bodyPr wrap="none">
            <a:spAutoFit/>
          </a:bodyPr>
          <a:lstStyle/>
          <a:p>
            <a:pPr>
              <a:spcBef>
                <a:spcPts val="600"/>
              </a:spcBef>
              <a:defRPr/>
            </a:pPr>
            <a:r>
              <a:rPr lang="en-GB" sz="1600" dirty="0">
                <a:latin typeface="Courier New" panose="02070309020205020404" pitchFamily="49" charset="0"/>
              </a:rPr>
              <a:t>Fred</a:t>
            </a:r>
          </a:p>
          <a:p>
            <a:pPr>
              <a:spcBef>
                <a:spcPts val="600"/>
              </a:spcBef>
              <a:defRPr/>
            </a:pPr>
            <a:r>
              <a:rPr lang="en-GB" sz="1600" dirty="0">
                <a:latin typeface="Courier New" panose="02070309020205020404" pitchFamily="49" charset="0"/>
              </a:rPr>
              <a:t>DPM</a:t>
            </a:r>
          </a:p>
          <a:p>
            <a:pPr>
              <a:spcBef>
                <a:spcPts val="600"/>
              </a:spcBef>
              <a:defRPr/>
            </a:pPr>
            <a:r>
              <a:rPr lang="en-GB" sz="1600" dirty="0">
                <a:latin typeface="Courier New" panose="02070309020205020404" pitchFamily="49" charset="0"/>
              </a:rPr>
              <a:t>Clive</a:t>
            </a:r>
          </a:p>
          <a:p>
            <a:pPr>
              <a:spcBef>
                <a:spcPts val="600"/>
              </a:spcBef>
              <a:defRPr/>
            </a:pPr>
            <a:r>
              <a:rPr lang="en-GB" sz="1600" dirty="0">
                <a:latin typeface="Courier New" panose="02070309020205020404" pitchFamily="49" charset="0"/>
              </a:rPr>
              <a:t>Tom</a:t>
            </a:r>
          </a:p>
          <a:p>
            <a:pPr>
              <a:spcBef>
                <a:spcPts val="600"/>
              </a:spcBef>
              <a:defRPr/>
            </a:pPr>
            <a:r>
              <a:rPr lang="en-GB" sz="1600" dirty="0">
                <a:latin typeface="Courier New" panose="02070309020205020404" pitchFamily="49" charset="0"/>
              </a:rPr>
              <a:t>Dick</a:t>
            </a:r>
          </a:p>
          <a:p>
            <a:pPr>
              <a:spcBef>
                <a:spcPts val="600"/>
              </a:spcBef>
              <a:defRPr/>
            </a:pPr>
            <a:r>
              <a:rPr lang="en-GB" sz="1600" dirty="0">
                <a:latin typeface="Courier New" panose="02070309020205020404" pitchFamily="49" charset="0"/>
              </a:rPr>
              <a:t>Harry</a:t>
            </a:r>
          </a:p>
        </p:txBody>
      </p:sp>
      <p:sp>
        <p:nvSpPr>
          <p:cNvPr id="16390" name="TextBox 5"/>
          <p:cNvSpPr txBox="1">
            <a:spLocks noChangeArrowheads="1"/>
          </p:cNvSpPr>
          <p:nvPr/>
        </p:nvSpPr>
        <p:spPr bwMode="auto">
          <a:xfrm>
            <a:off x="3254376" y="6068138"/>
            <a:ext cx="5622925" cy="369888"/>
          </a:xfrm>
          <a:prstGeom prst="rect">
            <a:avLst/>
          </a:prstGeom>
          <a:solidFill>
            <a:srgbClr val="DFFFCD"/>
          </a:solidFill>
          <a:ln w="9525">
            <a:solidFill>
              <a:srgbClr val="134183"/>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A line in the file starts with ('DPM',)</a:t>
            </a:r>
          </a:p>
        </p:txBody>
      </p:sp>
      <p:sp>
        <p:nvSpPr>
          <p:cNvPr id="2" name="Slide Number Placeholder 1">
            <a:extLst>
              <a:ext uri="{FF2B5EF4-FFF2-40B4-BE49-F238E27FC236}">
                <a16:creationId xmlns:a16="http://schemas.microsoft.com/office/drawing/2014/main" id="{013D6169-1964-70CD-E960-0E7CA6250CEA}"/>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24153345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18701" y="320617"/>
            <a:ext cx="11517818" cy="805001"/>
          </a:xfrm>
        </p:spPr>
        <p:txBody>
          <a:bodyPr/>
          <a:lstStyle/>
          <a:p>
            <a:pPr eaLnBrk="1" hangingPunct="1"/>
            <a:r>
              <a:rPr lang="en-GB"/>
              <a:t>Alternatives to ^ and $</a:t>
            </a:r>
          </a:p>
        </p:txBody>
      </p:sp>
      <p:sp>
        <p:nvSpPr>
          <p:cNvPr id="17411" name="Rectangle 3"/>
          <p:cNvSpPr>
            <a:spLocks noGrp="1" noChangeArrowheads="1"/>
          </p:cNvSpPr>
          <p:nvPr>
            <p:ph idx="1"/>
          </p:nvPr>
        </p:nvSpPr>
        <p:spPr/>
        <p:txBody>
          <a:bodyPr/>
          <a:lstStyle/>
          <a:p>
            <a:pPr>
              <a:spcBef>
                <a:spcPts val="600"/>
              </a:spcBef>
            </a:pPr>
            <a:r>
              <a:rPr lang="en-GB" b="1" dirty="0"/>
              <a:t>\A matches beginning of string</a:t>
            </a:r>
          </a:p>
          <a:p>
            <a:pPr lvl="1">
              <a:spcBef>
                <a:spcPts val="600"/>
              </a:spcBef>
              <a:buFont typeface="Arial" panose="020B0604020202020204" pitchFamily="34" charset="0"/>
              <a:buChar char="•"/>
            </a:pPr>
            <a:r>
              <a:rPr lang="en-GB" dirty="0"/>
              <a:t>Will not match multiple times with /m.</a:t>
            </a:r>
          </a:p>
          <a:p>
            <a:pPr>
              <a:spcBef>
                <a:spcPts val="600"/>
              </a:spcBef>
            </a:pPr>
            <a:r>
              <a:rPr lang="en-GB" b="1" dirty="0"/>
              <a:t>\Z matches end of string, or before a "\n"</a:t>
            </a:r>
          </a:p>
          <a:p>
            <a:pPr lvl="1">
              <a:spcBef>
                <a:spcPts val="600"/>
              </a:spcBef>
              <a:buFont typeface="Arial" panose="020B0604020202020204" pitchFamily="34" charset="0"/>
              <a:buChar char="•"/>
            </a:pPr>
            <a:r>
              <a:rPr lang="en-GB" dirty="0"/>
              <a:t>The "\n" is optional.</a:t>
            </a:r>
          </a:p>
          <a:p>
            <a:pPr>
              <a:spcBef>
                <a:spcPts val="600"/>
              </a:spcBef>
            </a:pPr>
            <a:r>
              <a:rPr lang="en-GB" b="1" dirty="0"/>
              <a:t>\z matches end of string</a:t>
            </a:r>
          </a:p>
          <a:p>
            <a:pPr lvl="1">
              <a:spcBef>
                <a:spcPts val="600"/>
              </a:spcBef>
              <a:buFont typeface="Arial" panose="020B0604020202020204" pitchFamily="34" charset="0"/>
              <a:buChar char="•"/>
            </a:pPr>
            <a:r>
              <a:rPr lang="en-GB" dirty="0"/>
              <a:t>The real end-of-string, the "\n" is significant.</a:t>
            </a:r>
          </a:p>
        </p:txBody>
      </p:sp>
      <p:sp>
        <p:nvSpPr>
          <p:cNvPr id="17412" name="Horizontal Scroll 3"/>
          <p:cNvSpPr>
            <a:spLocks noChangeArrowheads="1"/>
          </p:cNvSpPr>
          <p:nvPr/>
        </p:nvSpPr>
        <p:spPr bwMode="auto">
          <a:xfrm>
            <a:off x="2860325" y="4673643"/>
            <a:ext cx="5814117" cy="957694"/>
          </a:xfrm>
          <a:prstGeom prst="horizontalScroll">
            <a:avLst>
              <a:gd name="adj" fmla="val 12500"/>
            </a:avLst>
          </a:prstGeom>
          <a:solidFill>
            <a:schemeClr val="bg2">
              <a:lumMod val="20000"/>
              <a:lumOff val="80000"/>
            </a:schemeClr>
          </a:solidFill>
          <a:ln w="9525" algn="ctr">
            <a:solidFill>
              <a:schemeClr val="tx1"/>
            </a:solidFill>
            <a:round/>
            <a:headEnd/>
            <a:tailEnd/>
          </a:ln>
        </p:spPr>
        <p:txBody>
          <a:bodyPr wrap="square">
            <a:spAutoFit/>
          </a:bodyPr>
          <a:lstStyle/>
          <a:p>
            <a:pPr>
              <a:spcBef>
                <a:spcPts val="100"/>
              </a:spcBef>
            </a:pPr>
            <a:r>
              <a:rPr lang="en-GB" sz="2000" dirty="0"/>
              <a:t>"Knowing how long a piece of string is </a:t>
            </a:r>
          </a:p>
          <a:p>
            <a:pPr>
              <a:spcBef>
                <a:spcPts val="100"/>
              </a:spcBef>
            </a:pPr>
            <a:r>
              <a:rPr lang="en-GB" sz="2000" dirty="0"/>
              <a:t>can only be useful if you can find its ends."</a:t>
            </a:r>
          </a:p>
        </p:txBody>
      </p:sp>
      <p:sp>
        <p:nvSpPr>
          <p:cNvPr id="2" name="Slide Number Placeholder 1">
            <a:extLst>
              <a:ext uri="{FF2B5EF4-FFF2-40B4-BE49-F238E27FC236}">
                <a16:creationId xmlns:a16="http://schemas.microsoft.com/office/drawing/2014/main" id="{BBBE7650-B794-6604-E91F-FBAE2FD38C39}"/>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1295418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56374" y="340298"/>
            <a:ext cx="11517818" cy="805001"/>
          </a:xfrm>
        </p:spPr>
        <p:txBody>
          <a:bodyPr/>
          <a:lstStyle/>
          <a:p>
            <a:pPr eaLnBrk="1" hangingPunct="1"/>
            <a:r>
              <a:rPr lang="en-GB" dirty="0"/>
              <a:t>Comments in regular expressions</a:t>
            </a:r>
          </a:p>
        </p:txBody>
      </p:sp>
      <p:sp>
        <p:nvSpPr>
          <p:cNvPr id="18435" name="Rectangle 3"/>
          <p:cNvSpPr>
            <a:spLocks noGrp="1" noChangeArrowheads="1"/>
          </p:cNvSpPr>
          <p:nvPr>
            <p:ph idx="1"/>
          </p:nvPr>
        </p:nvSpPr>
        <p:spPr/>
        <p:txBody>
          <a:bodyPr/>
          <a:lstStyle/>
          <a:p>
            <a:pPr marL="342900" indent="-342900">
              <a:buFont typeface="Arial" panose="020B0604020202020204" pitchFamily="34" charset="0"/>
              <a:buChar char="•"/>
            </a:pPr>
            <a:r>
              <a:rPr lang="en-GB" b="1" dirty="0"/>
              <a:t>Delimit comments with </a:t>
            </a:r>
            <a:r>
              <a:rPr lang="en-GB" b="1" dirty="0">
                <a:latin typeface="Courier New" panose="02070309020205020404" pitchFamily="49" charset="0"/>
              </a:rPr>
              <a:t>(?#</a:t>
            </a:r>
            <a:r>
              <a:rPr lang="en-GB" b="1" i="1" dirty="0"/>
              <a:t>comment</a:t>
            </a:r>
            <a:r>
              <a:rPr lang="en-GB" b="1" i="1" dirty="0">
                <a:latin typeface="Courier New" panose="02070309020205020404" pitchFamily="49" charset="0"/>
              </a:rPr>
              <a:t>).</a:t>
            </a:r>
            <a:endParaRPr lang="en-GB" b="1" dirty="0">
              <a:latin typeface="Courier New" panose="02070309020205020404" pitchFamily="49" charset="0"/>
            </a:endParaRPr>
          </a:p>
          <a:p>
            <a:endParaRPr lang="en-GB" dirty="0">
              <a:latin typeface="Courier New" panose="02070309020205020404" pitchFamily="49" charset="0"/>
            </a:endParaRPr>
          </a:p>
          <a:p>
            <a:pPr lvl="1"/>
            <a:endParaRPr lang="en-GB" dirty="0">
              <a:latin typeface="Courier New" panose="02070309020205020404" pitchFamily="49" charset="0"/>
            </a:endParaRPr>
          </a:p>
          <a:p>
            <a:pPr lvl="1"/>
            <a:endParaRPr lang="en-GB" dirty="0"/>
          </a:p>
          <a:p>
            <a:pPr lvl="1"/>
            <a:endParaRPr lang="en-GB" dirty="0"/>
          </a:p>
          <a:p>
            <a:pPr marL="342900" indent="-342900">
              <a:buFont typeface="Arial" panose="020B0604020202020204" pitchFamily="34" charset="0"/>
              <a:buChar char="•"/>
            </a:pPr>
            <a:r>
              <a:rPr lang="en-GB" b="1" dirty="0"/>
              <a:t>The </a:t>
            </a:r>
            <a:r>
              <a:rPr lang="en-GB" b="1" dirty="0" err="1">
                <a:solidFill>
                  <a:srgbClr val="0000C8"/>
                </a:solidFill>
                <a:latin typeface="Courier New" panose="02070309020205020404" pitchFamily="49" charset="0"/>
              </a:rPr>
              <a:t>re.X</a:t>
            </a:r>
            <a:r>
              <a:rPr lang="en-GB" b="1" dirty="0"/>
              <a:t> flag allows comments in </a:t>
            </a:r>
            <a:r>
              <a:rPr lang="en-GB" b="1" dirty="0" err="1"/>
              <a:t>REs.</a:t>
            </a:r>
            <a:endParaRPr lang="en-GB" b="1" dirty="0"/>
          </a:p>
          <a:p>
            <a:pPr lvl="1">
              <a:buFont typeface="Arial" panose="020B0604020202020204" pitchFamily="34" charset="0"/>
              <a:buChar char="•"/>
            </a:pPr>
            <a:r>
              <a:rPr lang="en-GB" dirty="0"/>
              <a:t>White-space in the regular expression is discarded.</a:t>
            </a:r>
          </a:p>
          <a:p>
            <a:pPr lvl="1">
              <a:buFont typeface="Arial" panose="020B0604020202020204" pitchFamily="34" charset="0"/>
              <a:buChar char="•"/>
            </a:pPr>
            <a:r>
              <a:rPr lang="en-GB" dirty="0"/>
              <a:t>Comments until end-of-line allowed.</a:t>
            </a:r>
          </a:p>
        </p:txBody>
      </p:sp>
      <p:sp>
        <p:nvSpPr>
          <p:cNvPr id="18436" name="Rectangle 4"/>
          <p:cNvSpPr>
            <a:spLocks noChangeArrowheads="1"/>
          </p:cNvSpPr>
          <p:nvPr/>
        </p:nvSpPr>
        <p:spPr bwMode="auto">
          <a:xfrm>
            <a:off x="1056374" y="1996324"/>
            <a:ext cx="8255000" cy="920750"/>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GB" dirty="0" err="1">
                <a:latin typeface="Courier New" panose="02070309020205020404" pitchFamily="49" charset="0"/>
              </a:rPr>
              <a:t>re.search</a:t>
            </a:r>
            <a:r>
              <a:rPr lang="en-GB" dirty="0">
                <a:latin typeface="Courier New" panose="02070309020205020404" pitchFamily="49" charset="0"/>
              </a:rPr>
              <a:t>(</a:t>
            </a:r>
          </a:p>
          <a:p>
            <a:pPr>
              <a:spcBef>
                <a:spcPct val="0"/>
              </a:spcBef>
            </a:pPr>
            <a:r>
              <a:rPr lang="en-GB" dirty="0">
                <a:latin typeface="Courier New" panose="02070309020205020404" pitchFamily="49" charset="0"/>
              </a:rPr>
              <a:t>  r'\d{3}(?# 3 digits)\s(?# space)\d{3,5}(?# 3-5 digits)',</a:t>
            </a:r>
          </a:p>
          <a:p>
            <a:pPr>
              <a:spcBef>
                <a:spcPct val="0"/>
              </a:spcBef>
            </a:pPr>
            <a:r>
              <a:rPr lang="en-GB" dirty="0">
                <a:latin typeface="Courier New" panose="02070309020205020404" pitchFamily="49" charset="0"/>
              </a:rPr>
              <a:t>  txt)</a:t>
            </a:r>
          </a:p>
        </p:txBody>
      </p:sp>
      <p:sp>
        <p:nvSpPr>
          <p:cNvPr id="18437" name="Rectangle 5"/>
          <p:cNvSpPr>
            <a:spLocks noChangeArrowheads="1"/>
          </p:cNvSpPr>
          <p:nvPr/>
        </p:nvSpPr>
        <p:spPr bwMode="auto">
          <a:xfrm>
            <a:off x="1056374" y="4619124"/>
            <a:ext cx="5778500" cy="2028825"/>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GB" dirty="0" err="1">
                <a:latin typeface="Courier New" panose="02070309020205020404" pitchFamily="49" charset="0"/>
              </a:rPr>
              <a:t>re.search</a:t>
            </a:r>
            <a:r>
              <a:rPr lang="en-GB" dirty="0">
                <a:latin typeface="Courier New" panose="02070309020205020404" pitchFamily="49" charset="0"/>
              </a:rPr>
              <a:t>(</a:t>
            </a:r>
          </a:p>
          <a:p>
            <a:pPr>
              <a:spcBef>
                <a:spcPct val="0"/>
              </a:spcBef>
            </a:pPr>
            <a:r>
              <a:rPr lang="en-GB" dirty="0">
                <a:latin typeface="Courier New" panose="02070309020205020404" pitchFamily="49" charset="0"/>
              </a:rPr>
              <a:t>    '''</a:t>
            </a:r>
          </a:p>
          <a:p>
            <a:pPr>
              <a:spcBef>
                <a:spcPct val="0"/>
              </a:spcBef>
            </a:pPr>
            <a:r>
              <a:rPr lang="en-GB" dirty="0">
                <a:latin typeface="Courier New" panose="02070309020205020404" pitchFamily="49" charset="0"/>
              </a:rPr>
              <a:t>      \d{3}      # 3 digits</a:t>
            </a:r>
          </a:p>
          <a:p>
            <a:pPr>
              <a:spcBef>
                <a:spcPct val="0"/>
              </a:spcBef>
            </a:pPr>
            <a:r>
              <a:rPr lang="en-GB" dirty="0">
                <a:latin typeface="Courier New" panose="02070309020205020404" pitchFamily="49" charset="0"/>
              </a:rPr>
              <a:t>      \s         # space</a:t>
            </a:r>
          </a:p>
          <a:p>
            <a:pPr>
              <a:spcBef>
                <a:spcPct val="0"/>
              </a:spcBef>
            </a:pPr>
            <a:r>
              <a:rPr lang="en-GB" dirty="0">
                <a:latin typeface="Courier New" panose="02070309020205020404" pitchFamily="49" charset="0"/>
              </a:rPr>
              <a:t>      \d{3,5}    # 3-5 digits</a:t>
            </a:r>
          </a:p>
          <a:p>
            <a:pPr>
              <a:spcBef>
                <a:spcPct val="0"/>
              </a:spcBef>
            </a:pPr>
            <a:r>
              <a:rPr lang="en-GB" dirty="0">
                <a:latin typeface="Courier New" panose="02070309020205020404" pitchFamily="49" charset="0"/>
              </a:rPr>
              <a:t>    ''',</a:t>
            </a:r>
          </a:p>
          <a:p>
            <a:pPr>
              <a:spcBef>
                <a:spcPct val="0"/>
              </a:spcBef>
            </a:pPr>
            <a:r>
              <a:rPr lang="en-GB" dirty="0">
                <a:latin typeface="Courier New" panose="02070309020205020404" pitchFamily="49" charset="0"/>
              </a:rPr>
              <a:t>    txt, </a:t>
            </a:r>
            <a:r>
              <a:rPr lang="en-GB" dirty="0" err="1">
                <a:latin typeface="Courier New" panose="02070309020205020404" pitchFamily="49" charset="0"/>
              </a:rPr>
              <a:t>re.X</a:t>
            </a:r>
            <a:r>
              <a:rPr lang="en-GB"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ECAC8631-3A78-E498-AE5A-9DF44517C1A9}"/>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15053879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030329" y="299622"/>
            <a:ext cx="11517818" cy="805001"/>
          </a:xfrm>
        </p:spPr>
        <p:txBody>
          <a:bodyPr/>
          <a:lstStyle/>
          <a:p>
            <a:pPr eaLnBrk="1" hangingPunct="1"/>
            <a:r>
              <a:rPr lang="en-GB" dirty="0"/>
              <a:t>Lambda in </a:t>
            </a:r>
            <a:r>
              <a:rPr lang="en-GB" dirty="0" err="1"/>
              <a:t>re.sub</a:t>
            </a:r>
            <a:endParaRPr lang="en-GB" dirty="0"/>
          </a:p>
        </p:txBody>
      </p:sp>
      <p:sp>
        <p:nvSpPr>
          <p:cNvPr id="20483" name="Content Placeholder 2"/>
          <p:cNvSpPr>
            <a:spLocks noGrp="1"/>
          </p:cNvSpPr>
          <p:nvPr>
            <p:ph idx="1"/>
          </p:nvPr>
        </p:nvSpPr>
        <p:spPr>
          <a:xfrm>
            <a:off x="426113" y="1105992"/>
            <a:ext cx="11516239" cy="4955354"/>
          </a:xfrm>
        </p:spPr>
        <p:txBody>
          <a:bodyPr/>
          <a:lstStyle/>
          <a:p>
            <a:pPr marL="342900" indent="-342900">
              <a:buFont typeface="Arial" panose="020B0604020202020204" pitchFamily="34" charset="0"/>
              <a:buChar char="•"/>
            </a:pPr>
            <a:r>
              <a:rPr lang="en-GB" b="1" dirty="0"/>
              <a:t>The </a:t>
            </a:r>
            <a:r>
              <a:rPr lang="en-GB" b="1" dirty="0" err="1"/>
              <a:t>re.sub</a:t>
            </a:r>
            <a:r>
              <a:rPr lang="en-GB" b="1" dirty="0"/>
              <a:t> method can take a function as a replacement.</a:t>
            </a:r>
          </a:p>
          <a:p>
            <a:pPr marL="715963" lvl="1">
              <a:buFont typeface="Arial" panose="020B0604020202020204" pitchFamily="34" charset="0"/>
              <a:buChar char="•"/>
            </a:pPr>
            <a:r>
              <a:rPr lang="en-GB" dirty="0"/>
              <a:t>Passes a match object to the function.</a:t>
            </a:r>
          </a:p>
          <a:p>
            <a:pPr marL="715963" lvl="1">
              <a:buFont typeface="Arial" panose="020B0604020202020204" pitchFamily="34" charset="0"/>
              <a:buChar char="•"/>
            </a:pPr>
            <a:r>
              <a:rPr lang="en-GB" dirty="0"/>
              <a:t>The return value is the value substituted.</a:t>
            </a:r>
          </a:p>
        </p:txBody>
      </p:sp>
      <p:sp>
        <p:nvSpPr>
          <p:cNvPr id="20484" name="TextBox 3"/>
          <p:cNvSpPr txBox="1">
            <a:spLocks noChangeArrowheads="1"/>
          </p:cNvSpPr>
          <p:nvPr/>
        </p:nvSpPr>
        <p:spPr bwMode="auto">
          <a:xfrm>
            <a:off x="1030329" y="2453660"/>
            <a:ext cx="8136390" cy="3724096"/>
          </a:xfrm>
          <a:prstGeom prst="rect">
            <a:avLst/>
          </a:prstGeom>
          <a:solidFill>
            <a:schemeClr val="tx2">
              <a:lumMod val="20000"/>
              <a:lumOff val="80000"/>
            </a:schemeClr>
          </a:solidFill>
          <a:ln w="9525">
            <a:solidFill>
              <a:schemeClr val="tx1"/>
            </a:solidFill>
            <a:miter lim="800000"/>
            <a:headEnd/>
            <a:tailEnd/>
          </a:ln>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re</a:t>
            </a:r>
          </a:p>
          <a:p>
            <a:pPr>
              <a:spcBef>
                <a:spcPct val="0"/>
              </a:spcBef>
            </a:pPr>
            <a:endParaRPr lang="en-GB" sz="800" dirty="0">
              <a:latin typeface="Courier New" panose="02070309020205020404" pitchFamily="49" charset="0"/>
              <a:cs typeface="Courier New" panose="02070309020205020404" pitchFamily="49" charset="0"/>
            </a:endParaRPr>
          </a:p>
          <a:p>
            <a:r>
              <a:rPr lang="en-GB" sz="1600" dirty="0">
                <a:latin typeface="Courier New" panose="02070309020205020404" pitchFamily="49" charset="0"/>
                <a:cs typeface="Courier New" panose="02070309020205020404" pitchFamily="49" charset="0"/>
              </a:rPr>
              <a:t>numbers = ['zero', '</a:t>
            </a:r>
            <a:r>
              <a:rPr lang="en-GB" sz="1600" dirty="0" err="1">
                <a:latin typeface="Courier New" panose="02070309020205020404" pitchFamily="49" charset="0"/>
                <a:cs typeface="Courier New" panose="02070309020205020404" pitchFamily="49" charset="0"/>
              </a:rPr>
              <a:t>wun</a:t>
            </a:r>
            <a:r>
              <a:rPr lang="en-GB" sz="1600" dirty="0">
                <a:latin typeface="Courier New" panose="02070309020205020404" pitchFamily="49" charset="0"/>
                <a:cs typeface="Courier New" panose="02070309020205020404" pitchFamily="49" charset="0"/>
              </a:rPr>
              <a:t>', 'two', 'tree', '</a:t>
            </a:r>
            <a:r>
              <a:rPr lang="en-GB" sz="1600" dirty="0" err="1">
                <a:latin typeface="Courier New" panose="02070309020205020404" pitchFamily="49" charset="0"/>
                <a:cs typeface="Courier New" panose="02070309020205020404" pitchFamily="49" charset="0"/>
              </a:rPr>
              <a:t>fower</a:t>
            </a:r>
            <a:r>
              <a:rPr lang="en-GB" sz="1600" dirty="0">
                <a:latin typeface="Courier New" panose="02070309020205020404" pitchFamily="49" charset="0"/>
                <a:cs typeface="Courier New" panose="02070309020205020404" pitchFamily="49" charset="0"/>
              </a:rPr>
              <a:t>',</a:t>
            </a:r>
          </a:p>
          <a:p>
            <a:r>
              <a:rPr lang="en-GB" sz="1600" dirty="0">
                <a:latin typeface="Courier New" panose="02070309020205020404" pitchFamily="49" charset="0"/>
                <a:cs typeface="Courier New" panose="02070309020205020404" pitchFamily="49" charset="0"/>
              </a:rPr>
              <a:t>           'fife', 'six', 'seven', 'ait', '</a:t>
            </a:r>
            <a:r>
              <a:rPr lang="en-GB" sz="1600" dirty="0" err="1">
                <a:latin typeface="Courier New" panose="02070309020205020404" pitchFamily="49" charset="0"/>
                <a:cs typeface="Courier New" panose="02070309020205020404" pitchFamily="49" charset="0"/>
              </a:rPr>
              <a:t>niner</a:t>
            </a:r>
            <a:r>
              <a:rPr lang="en-GB" sz="1600" dirty="0">
                <a:latin typeface="Courier New" panose="02070309020205020404" pitchFamily="49" charset="0"/>
                <a:cs typeface="Courier New" panose="02070309020205020404" pitchFamily="49" charset="0"/>
              </a:rPr>
              <a:t>']</a:t>
            </a:r>
          </a:p>
          <a:p>
            <a:r>
              <a:rPr lang="en-GB" sz="1600" dirty="0">
                <a:latin typeface="Courier New" panose="02070309020205020404" pitchFamily="49" charset="0"/>
                <a:cs typeface="Courier New" panose="02070309020205020404" pitchFamily="49" charset="0"/>
              </a:rPr>
              <a:t>alphas  = ['alpha', 'bravo', '</a:t>
            </a:r>
            <a:r>
              <a:rPr lang="en-GB" sz="1600" dirty="0" err="1">
                <a:latin typeface="Courier New" panose="02070309020205020404" pitchFamily="49" charset="0"/>
                <a:cs typeface="Courier New" panose="02070309020205020404" pitchFamily="49" charset="0"/>
              </a:rPr>
              <a:t>charlie</a:t>
            </a:r>
            <a:r>
              <a:rPr lang="en-GB" sz="1600" dirty="0">
                <a:latin typeface="Courier New" panose="02070309020205020404" pitchFamily="49" charset="0"/>
                <a:cs typeface="Courier New" panose="02070309020205020404" pitchFamily="49" charset="0"/>
              </a:rPr>
              <a:t>', 'delta', 'echo',</a:t>
            </a:r>
          </a:p>
          <a:p>
            <a:r>
              <a:rPr lang="en-GB" sz="1600" dirty="0">
                <a:latin typeface="Courier New" panose="02070309020205020404" pitchFamily="49" charset="0"/>
                <a:cs typeface="Courier New" panose="02070309020205020404" pitchFamily="49" charset="0"/>
              </a:rPr>
              <a:t>           'foxtrot', 'golf’, 'hotel', '</a:t>
            </a:r>
            <a:r>
              <a:rPr lang="en-GB" sz="1600" dirty="0" err="1">
                <a:latin typeface="Courier New" panose="02070309020205020404" pitchFamily="49" charset="0"/>
                <a:cs typeface="Courier New" panose="02070309020205020404" pitchFamily="49" charset="0"/>
              </a:rPr>
              <a:t>india</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juliet</a:t>
            </a:r>
            <a:r>
              <a:rPr lang="en-GB" sz="1600" dirty="0">
                <a:latin typeface="Courier New" panose="02070309020205020404" pitchFamily="49" charset="0"/>
                <a:cs typeface="Courier New" panose="02070309020205020404" pitchFamily="49" charset="0"/>
              </a:rPr>
              <a:t>',</a:t>
            </a:r>
          </a:p>
          <a:p>
            <a:r>
              <a:rPr lang="en-GB" sz="1600" dirty="0">
                <a:latin typeface="Courier New" panose="02070309020205020404" pitchFamily="49" charset="0"/>
                <a:cs typeface="Courier New" panose="02070309020205020404" pitchFamily="49" charset="0"/>
              </a:rPr>
              <a:t>           'kilo', 'lima', 'mike', '</a:t>
            </a:r>
            <a:r>
              <a:rPr lang="en-GB" sz="1600" dirty="0" err="1">
                <a:latin typeface="Courier New" panose="02070309020205020404" pitchFamily="49" charset="0"/>
                <a:cs typeface="Courier New" panose="02070309020205020404" pitchFamily="49" charset="0"/>
              </a:rPr>
              <a:t>november</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oscar</a:t>
            </a:r>
            <a:r>
              <a:rPr lang="en-GB" sz="1600" dirty="0">
                <a:latin typeface="Courier New" panose="02070309020205020404" pitchFamily="49" charset="0"/>
                <a:cs typeface="Courier New" panose="02070309020205020404" pitchFamily="49" charset="0"/>
              </a:rPr>
              <a:t>', 'papa',</a:t>
            </a:r>
          </a:p>
          <a:p>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quebec</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romeo</a:t>
            </a:r>
            <a:r>
              <a:rPr lang="en-GB" sz="1600" dirty="0">
                <a:latin typeface="Courier New" panose="02070309020205020404" pitchFamily="49" charset="0"/>
                <a:cs typeface="Courier New" panose="02070309020205020404" pitchFamily="49" charset="0"/>
              </a:rPr>
              <a:t>', 'sierra', 'tango', 'uniform',</a:t>
            </a:r>
          </a:p>
          <a:p>
            <a:r>
              <a:rPr lang="en-GB" sz="1600" dirty="0">
                <a:latin typeface="Courier New" panose="02070309020205020404" pitchFamily="49" charset="0"/>
                <a:cs typeface="Courier New" panose="02070309020205020404" pitchFamily="49" charset="0"/>
              </a:rPr>
              <a:t>           'victor', 'whisky', '</a:t>
            </a:r>
            <a:r>
              <a:rPr lang="en-GB" sz="1600" dirty="0" err="1">
                <a:latin typeface="Courier New" panose="02070309020205020404" pitchFamily="49" charset="0"/>
                <a:cs typeface="Courier New" panose="02070309020205020404" pitchFamily="49" charset="0"/>
              </a:rPr>
              <a:t>xray</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yankee</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zulu</a:t>
            </a:r>
            <a:r>
              <a:rPr lang="en-GB" sz="1600" dirty="0">
                <a:latin typeface="Courier New" panose="02070309020205020404" pitchFamily="49" charset="0"/>
                <a:cs typeface="Courier New" panose="02070309020205020404" pitchFamily="49" charset="0"/>
              </a:rPr>
              <a:t>']</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codes = {str(</a:t>
            </a:r>
            <a:r>
              <a:rPr lang="en-GB" sz="1600" dirty="0" err="1">
                <a:latin typeface="Courier New" panose="02070309020205020404" pitchFamily="49" charset="0"/>
                <a:cs typeface="Courier New" panose="02070309020205020404" pitchFamily="49" charset="0"/>
              </a:rPr>
              <a:t>i</a:t>
            </a:r>
            <a:r>
              <a:rPr lang="en-GB" sz="1600" dirty="0">
                <a:latin typeface="Courier New" panose="02070309020205020404" pitchFamily="49" charset="0"/>
                <a:cs typeface="Courier New" panose="02070309020205020404" pitchFamily="49" charset="0"/>
              </a:rPr>
              <a:t>):name for </a:t>
            </a:r>
            <a:r>
              <a:rPr lang="en-GB" sz="1600" dirty="0" err="1">
                <a:latin typeface="Courier New" panose="02070309020205020404" pitchFamily="49" charset="0"/>
                <a:cs typeface="Courier New" panose="02070309020205020404" pitchFamily="49" charset="0"/>
              </a:rPr>
              <a:t>i</a:t>
            </a:r>
            <a:r>
              <a:rPr lang="en-GB" sz="1600" dirty="0">
                <a:latin typeface="Courier New" panose="02070309020205020404" pitchFamily="49" charset="0"/>
                <a:cs typeface="Courier New" panose="02070309020205020404" pitchFamily="49" charset="0"/>
              </a:rPr>
              <a:t>, name in enumerate(numbers)}    </a:t>
            </a:r>
          </a:p>
          <a:p>
            <a:pPr>
              <a:spcBef>
                <a:spcPct val="0"/>
              </a:spcBef>
            </a:pPr>
            <a:r>
              <a:rPr lang="en-GB" sz="1600" dirty="0" err="1">
                <a:latin typeface="Courier New" panose="02070309020205020404" pitchFamily="49" charset="0"/>
                <a:cs typeface="Courier New" panose="02070309020205020404" pitchFamily="49" charset="0"/>
              </a:rPr>
              <a:t>codes.update</a:t>
            </a:r>
            <a:r>
              <a:rPr lang="en-GB" sz="1600" dirty="0">
                <a:latin typeface="Courier New" panose="02070309020205020404" pitchFamily="49" charset="0"/>
                <a:cs typeface="Courier New" panose="02070309020205020404" pitchFamily="49" charset="0"/>
              </a:rPr>
              <a:t>({name[0].upper():name for name in alphas})</a:t>
            </a:r>
          </a:p>
          <a:p>
            <a:pPr>
              <a:spcBef>
                <a:spcPct val="0"/>
              </a:spcBef>
            </a:pPr>
            <a:r>
              <a:rPr lang="en-GB" sz="1600" dirty="0" err="1">
                <a:latin typeface="Courier New" panose="02070309020205020404" pitchFamily="49" charset="0"/>
                <a:cs typeface="Courier New" panose="02070309020205020404" pitchFamily="49" charset="0"/>
              </a:rPr>
              <a:t>reg</a:t>
            </a:r>
            <a:r>
              <a:rPr lang="en-GB" sz="1600" dirty="0">
                <a:latin typeface="Courier New" panose="02070309020205020404" pitchFamily="49" charset="0"/>
                <a:cs typeface="Courier New" panose="02070309020205020404" pitchFamily="49" charset="0"/>
              </a:rPr>
              <a:t> = 'WG07 OKD'</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result = </a:t>
            </a:r>
            <a:r>
              <a:rPr lang="en-GB" sz="1800" dirty="0" err="1">
                <a:latin typeface="Courier New" panose="02070309020205020404" pitchFamily="49" charset="0"/>
                <a:cs typeface="Courier New" panose="02070309020205020404" pitchFamily="49" charset="0"/>
              </a:rPr>
              <a:t>re.sub</a:t>
            </a:r>
            <a:r>
              <a:rPr lang="en-GB" sz="1800" dirty="0">
                <a:latin typeface="Courier New" panose="02070309020205020404" pitchFamily="49" charset="0"/>
                <a:cs typeface="Courier New" panose="02070309020205020404" pitchFamily="49" charset="0"/>
              </a:rPr>
              <a:t>(r'(\w)', </a:t>
            </a:r>
          </a:p>
          <a:p>
            <a:pPr>
              <a:spcBef>
                <a:spcPct val="0"/>
              </a:spcBef>
            </a:pPr>
            <a:r>
              <a:rPr lang="en-GB" sz="1800" dirty="0">
                <a:latin typeface="Courier New" panose="02070309020205020404" pitchFamily="49" charset="0"/>
                <a:cs typeface="Courier New" panose="02070309020205020404" pitchFamily="49" charset="0"/>
              </a:rPr>
              <a:t>                lambda m: codes[</a:t>
            </a:r>
            <a:r>
              <a:rPr lang="en-GB" sz="1800" dirty="0" err="1">
                <a:latin typeface="Courier New" panose="02070309020205020404" pitchFamily="49" charset="0"/>
                <a:cs typeface="Courier New" panose="02070309020205020404" pitchFamily="49" charset="0"/>
              </a:rPr>
              <a:t>m.groups</a:t>
            </a:r>
            <a:r>
              <a:rPr lang="en-GB" sz="1800" dirty="0">
                <a:latin typeface="Courier New" panose="02070309020205020404" pitchFamily="49" charset="0"/>
                <a:cs typeface="Courier New" panose="02070309020205020404" pitchFamily="49" charset="0"/>
              </a:rPr>
              <a:t>()[0]] + ' ', reg)</a:t>
            </a:r>
          </a:p>
        </p:txBody>
      </p:sp>
      <p:sp>
        <p:nvSpPr>
          <p:cNvPr id="2" name="Slide Number Placeholder 1">
            <a:extLst>
              <a:ext uri="{FF2B5EF4-FFF2-40B4-BE49-F238E27FC236}">
                <a16:creationId xmlns:a16="http://schemas.microsoft.com/office/drawing/2014/main" id="{7318C6C9-854F-95B1-B47F-E421DAF94B94}"/>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1972304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11969" y="299105"/>
            <a:ext cx="11517818" cy="805001"/>
          </a:xfrm>
        </p:spPr>
        <p:txBody>
          <a:bodyPr/>
          <a:lstStyle/>
          <a:p>
            <a:pPr eaLnBrk="1" hangingPunct="1"/>
            <a:r>
              <a:rPr lang="en-US" dirty="0"/>
              <a:t>Look-around assertions</a:t>
            </a:r>
          </a:p>
        </p:txBody>
      </p:sp>
      <p:sp>
        <p:nvSpPr>
          <p:cNvPr id="20483" name="Rectangle 3"/>
          <p:cNvSpPr>
            <a:spLocks noGrp="1" noChangeArrowheads="1"/>
          </p:cNvSpPr>
          <p:nvPr>
            <p:ph idx="1"/>
          </p:nvPr>
        </p:nvSpPr>
        <p:spPr/>
        <p:txBody>
          <a:bodyPr/>
          <a:lstStyle/>
          <a:p>
            <a:pPr marL="342900" indent="-342900">
              <a:buFont typeface="Arial" panose="020B0604020202020204" pitchFamily="34" charset="0"/>
              <a:buChar char="•"/>
            </a:pPr>
            <a:r>
              <a:rPr lang="en-US" b="1" dirty="0"/>
              <a:t>Do not consume the pattern, or capture:</a:t>
            </a:r>
          </a:p>
          <a:p>
            <a:pPr marL="631825" lvl="1">
              <a:buFont typeface="Arial" panose="020B0604020202020204" pitchFamily="34" charset="0"/>
              <a:buChar char="•"/>
              <a:tabLst>
                <a:tab pos="536575" algn="l"/>
              </a:tabLst>
            </a:pPr>
            <a:r>
              <a:rPr lang="en-US" dirty="0"/>
              <a:t>Look-ahead:   Positive: </a:t>
            </a:r>
            <a:r>
              <a:rPr lang="en-US" dirty="0">
                <a:latin typeface="Courier New" panose="02070309020205020404" pitchFamily="49" charset="0"/>
              </a:rPr>
              <a:t>(?=</a:t>
            </a:r>
            <a:r>
              <a:rPr lang="en-US" b="0" i="1" dirty="0"/>
              <a:t>pattern</a:t>
            </a:r>
            <a:r>
              <a:rPr lang="en-US" dirty="0">
                <a:latin typeface="Courier New" panose="02070309020205020404" pitchFamily="49" charset="0"/>
              </a:rPr>
              <a:t>)</a:t>
            </a:r>
            <a:r>
              <a:rPr lang="en-US" dirty="0"/>
              <a:t>	Negative: </a:t>
            </a:r>
            <a:r>
              <a:rPr lang="en-US" dirty="0">
                <a:latin typeface="Courier New" panose="02070309020205020404" pitchFamily="49" charset="0"/>
              </a:rPr>
              <a:t>(?!</a:t>
            </a:r>
            <a:r>
              <a:rPr lang="en-US" b="0" i="1" dirty="0"/>
              <a:t>pattern</a:t>
            </a:r>
            <a:r>
              <a:rPr lang="en-US" dirty="0">
                <a:latin typeface="Courier New" panose="02070309020205020404" pitchFamily="49" charset="0"/>
              </a:rPr>
              <a:t>)</a:t>
            </a:r>
            <a:endParaRPr lang="en-US" dirty="0"/>
          </a:p>
          <a:p>
            <a:pPr marL="631825" lvl="1">
              <a:buFont typeface="Arial" panose="020B0604020202020204" pitchFamily="34" charset="0"/>
              <a:buChar char="•"/>
              <a:tabLst>
                <a:tab pos="536575" algn="l"/>
              </a:tabLst>
            </a:pPr>
            <a:r>
              <a:rPr lang="en-US" dirty="0"/>
              <a:t>Look-behind:  Positive: </a:t>
            </a:r>
            <a:r>
              <a:rPr lang="en-US" dirty="0">
                <a:latin typeface="Courier New" panose="02070309020205020404" pitchFamily="49" charset="0"/>
              </a:rPr>
              <a:t>(?&lt;=</a:t>
            </a:r>
            <a:r>
              <a:rPr lang="en-US" b="0" i="1" dirty="0"/>
              <a:t>pattern</a:t>
            </a:r>
            <a:r>
              <a:rPr lang="en-US" dirty="0">
                <a:latin typeface="Courier New" panose="02070309020205020404" pitchFamily="49" charset="0"/>
              </a:rPr>
              <a:t>)</a:t>
            </a:r>
            <a:r>
              <a:rPr lang="en-US" dirty="0"/>
              <a:t>	Negative: </a:t>
            </a:r>
            <a:r>
              <a:rPr lang="en-US" dirty="0">
                <a:latin typeface="Courier New" panose="02070309020205020404" pitchFamily="49" charset="0"/>
              </a:rPr>
              <a:t>(?&lt;!</a:t>
            </a:r>
            <a:r>
              <a:rPr lang="en-US" b="0" i="1" dirty="0"/>
              <a:t>pattern</a:t>
            </a:r>
            <a:r>
              <a:rPr lang="en-US" dirty="0">
                <a:latin typeface="Courier New" panose="02070309020205020404" pitchFamily="49" charset="0"/>
              </a:rPr>
              <a:t>)</a:t>
            </a:r>
          </a:p>
          <a:p>
            <a:pPr marL="342900" indent="-342900">
              <a:buFont typeface="Arial" panose="020B0604020202020204" pitchFamily="34" charset="0"/>
              <a:buChar char="•"/>
            </a:pPr>
            <a:r>
              <a:rPr lang="en-US" b="1" dirty="0"/>
              <a:t>Without look-arounds:</a:t>
            </a:r>
          </a:p>
          <a:p>
            <a:endParaRPr lang="en-US" dirty="0"/>
          </a:p>
          <a:p>
            <a:pPr lvl="2">
              <a:buFontTx/>
              <a:buNone/>
            </a:pPr>
            <a:r>
              <a:rPr lang="en-US" dirty="0"/>
              <a:t>		</a:t>
            </a:r>
          </a:p>
          <a:p>
            <a:endParaRPr lang="en-US" dirty="0"/>
          </a:p>
          <a:p>
            <a:pPr lvl="1"/>
            <a:endParaRPr lang="en-US" dirty="0"/>
          </a:p>
          <a:p>
            <a:pPr marL="342900" indent="-342900">
              <a:buFont typeface="Arial" panose="020B0604020202020204" pitchFamily="34" charset="0"/>
              <a:buChar char="•"/>
            </a:pPr>
            <a:r>
              <a:rPr lang="en-US" b="1" dirty="0"/>
              <a:t>With look-arounds:</a:t>
            </a:r>
          </a:p>
        </p:txBody>
      </p:sp>
      <p:sp>
        <p:nvSpPr>
          <p:cNvPr id="20484" name="Rectangle 5"/>
          <p:cNvSpPr>
            <a:spLocks noChangeArrowheads="1"/>
          </p:cNvSpPr>
          <p:nvPr/>
        </p:nvSpPr>
        <p:spPr bwMode="auto">
          <a:xfrm>
            <a:off x="1011969" y="3155281"/>
            <a:ext cx="8066087" cy="1044575"/>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GB" dirty="0" err="1">
                <a:latin typeface="Courier New" panose="02070309020205020404" pitchFamily="49" charset="0"/>
              </a:rPr>
              <a:t>var</a:t>
            </a:r>
            <a:r>
              <a:rPr lang="en-GB" dirty="0">
                <a:latin typeface="Courier New" panose="02070309020205020404" pitchFamily="49" charset="0"/>
              </a:rPr>
              <a:t> = '&lt;h1&gt;This is a header&lt;/h1&gt;'</a:t>
            </a:r>
          </a:p>
          <a:p>
            <a:pPr>
              <a:spcBef>
                <a:spcPct val="0"/>
              </a:spcBef>
            </a:pPr>
            <a:endParaRPr lang="en-GB" sz="800" dirty="0">
              <a:latin typeface="Courier New" panose="02070309020205020404" pitchFamily="49" charset="0"/>
            </a:endParaRPr>
          </a:p>
          <a:p>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(r'&lt;([</a:t>
            </a:r>
            <a:r>
              <a:rPr lang="en-GB" dirty="0" err="1">
                <a:latin typeface="Courier New" panose="02070309020205020404" pitchFamily="49" charset="0"/>
              </a:rPr>
              <a:t>hH</a:t>
            </a:r>
            <a:r>
              <a:rPr lang="en-GB" dirty="0">
                <a:latin typeface="Courier New" panose="02070309020205020404" pitchFamily="49" charset="0"/>
              </a:rPr>
              <a:t>]\d)&gt;.*&lt;/\1&gt;</a:t>
            </a:r>
            <a:r>
              <a:rPr lang="en-GB" dirty="0">
                <a:latin typeface="Courier New" panose="02070309020205020404" pitchFamily="49" charset="0"/>
                <a:cs typeface="Courier New" panose="02070309020205020404" pitchFamily="49" charset="0"/>
              </a:rPr>
              <a:t>'</a:t>
            </a:r>
            <a:r>
              <a:rPr lang="en-GB" dirty="0">
                <a:latin typeface="Courier New" panose="02070309020205020404" pitchFamily="49" charset="0"/>
              </a:rPr>
              <a:t>, var)</a:t>
            </a:r>
          </a:p>
          <a:p>
            <a:pPr>
              <a:spcBef>
                <a:spcPct val="0"/>
              </a:spcBef>
            </a:pPr>
            <a:r>
              <a:rPr lang="en-GB" dirty="0">
                <a:latin typeface="Courier New" panose="02070309020205020404" pitchFamily="49" charset="0"/>
              </a:rPr>
              <a:t>print("Matched: ", </a:t>
            </a:r>
            <a:r>
              <a:rPr lang="en-GB" dirty="0" err="1">
                <a:latin typeface="Courier New" panose="02070309020205020404" pitchFamily="49" charset="0"/>
              </a:rPr>
              <a:t>m.group</a:t>
            </a:r>
            <a:r>
              <a:rPr lang="en-GB" dirty="0">
                <a:latin typeface="Courier New" panose="02070309020205020404" pitchFamily="49" charset="0"/>
              </a:rPr>
              <a:t>())</a:t>
            </a:r>
          </a:p>
        </p:txBody>
      </p:sp>
      <p:sp>
        <p:nvSpPr>
          <p:cNvPr id="20485" name="TextBox 4"/>
          <p:cNvSpPr txBox="1">
            <a:spLocks noChangeArrowheads="1"/>
          </p:cNvSpPr>
          <p:nvPr/>
        </p:nvSpPr>
        <p:spPr bwMode="auto">
          <a:xfrm>
            <a:off x="4237768" y="4199855"/>
            <a:ext cx="4926013" cy="369888"/>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b="1" dirty="0">
                <a:latin typeface="Courier New" panose="02070309020205020404" pitchFamily="49" charset="0"/>
              </a:rPr>
              <a:t>Matched: &lt;h1&gt;This is a header&lt;/h1&gt;</a:t>
            </a:r>
          </a:p>
        </p:txBody>
      </p:sp>
      <p:sp>
        <p:nvSpPr>
          <p:cNvPr id="20486" name="Rectangle 5"/>
          <p:cNvSpPr>
            <a:spLocks noChangeArrowheads="1"/>
          </p:cNvSpPr>
          <p:nvPr/>
        </p:nvSpPr>
        <p:spPr bwMode="auto">
          <a:xfrm>
            <a:off x="1011967" y="5029449"/>
            <a:ext cx="8066088" cy="1042988"/>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GB" dirty="0" err="1">
                <a:latin typeface="Courier New" panose="02070309020205020404" pitchFamily="49" charset="0"/>
              </a:rPr>
              <a:t>var</a:t>
            </a:r>
            <a:r>
              <a:rPr lang="en-GB" dirty="0">
                <a:latin typeface="Courier New" panose="02070309020205020404" pitchFamily="49" charset="0"/>
              </a:rPr>
              <a:t> = '&lt;h1&gt;This is a header&lt;/h1&gt;'</a:t>
            </a:r>
          </a:p>
          <a:p>
            <a:pPr>
              <a:spcBef>
                <a:spcPct val="0"/>
              </a:spcBef>
            </a:pPr>
            <a:endParaRPr lang="en-GB" sz="800" dirty="0">
              <a:latin typeface="Courier New" panose="02070309020205020404" pitchFamily="49" charset="0"/>
            </a:endParaRPr>
          </a:p>
          <a:p>
            <a:r>
              <a:rPr lang="en-GB" dirty="0">
                <a:latin typeface="Courier New" panose="02070309020205020404" pitchFamily="49" charset="0"/>
              </a:rPr>
              <a:t>m = </a:t>
            </a:r>
            <a:r>
              <a:rPr lang="en-GB" dirty="0" err="1">
                <a:latin typeface="Courier New" panose="02070309020205020404" pitchFamily="49" charset="0"/>
              </a:rPr>
              <a:t>re.search</a:t>
            </a:r>
            <a:r>
              <a:rPr lang="en-GB" dirty="0">
                <a:latin typeface="Courier New" panose="02070309020205020404" pitchFamily="49" charset="0"/>
              </a:rPr>
              <a:t>(r'(?&lt;=&lt;([</a:t>
            </a:r>
            <a:r>
              <a:rPr lang="en-GB" dirty="0" err="1">
                <a:latin typeface="Courier New" panose="02070309020205020404" pitchFamily="49" charset="0"/>
              </a:rPr>
              <a:t>hH</a:t>
            </a:r>
            <a:r>
              <a:rPr lang="en-GB" dirty="0">
                <a:latin typeface="Courier New" panose="02070309020205020404" pitchFamily="49" charset="0"/>
              </a:rPr>
              <a:t>]\d)&gt;).*(?=&lt;/\1&gt;)</a:t>
            </a:r>
            <a:r>
              <a:rPr lang="en-GB" dirty="0">
                <a:latin typeface="Courier New" panose="02070309020205020404" pitchFamily="49" charset="0"/>
                <a:cs typeface="Courier New" panose="02070309020205020404" pitchFamily="49" charset="0"/>
              </a:rPr>
              <a:t> '</a:t>
            </a:r>
            <a:r>
              <a:rPr lang="en-GB" dirty="0">
                <a:latin typeface="Courier New" panose="02070309020205020404" pitchFamily="49" charset="0"/>
              </a:rPr>
              <a:t>, var)</a:t>
            </a:r>
          </a:p>
          <a:p>
            <a:pPr>
              <a:spcBef>
                <a:spcPct val="0"/>
              </a:spcBef>
            </a:pPr>
            <a:r>
              <a:rPr lang="en-GB" dirty="0">
                <a:latin typeface="Courier New" panose="02070309020205020404" pitchFamily="49" charset="0"/>
              </a:rPr>
              <a:t>print("Matched: ", </a:t>
            </a:r>
            <a:r>
              <a:rPr lang="en-GB" dirty="0" err="1">
                <a:latin typeface="Courier New" panose="02070309020205020404" pitchFamily="49" charset="0"/>
              </a:rPr>
              <a:t>m.group</a:t>
            </a:r>
            <a:r>
              <a:rPr lang="en-GB" dirty="0">
                <a:latin typeface="Courier New" panose="02070309020205020404" pitchFamily="49" charset="0"/>
              </a:rPr>
              <a:t>())</a:t>
            </a:r>
          </a:p>
        </p:txBody>
      </p:sp>
      <p:sp>
        <p:nvSpPr>
          <p:cNvPr id="20487" name="TextBox 6"/>
          <p:cNvSpPr txBox="1">
            <a:spLocks noChangeArrowheads="1"/>
          </p:cNvSpPr>
          <p:nvPr/>
        </p:nvSpPr>
        <p:spPr bwMode="auto">
          <a:xfrm>
            <a:off x="4237768" y="6072437"/>
            <a:ext cx="4930775" cy="368300"/>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b="1" dirty="0">
                <a:latin typeface="Courier New" panose="02070309020205020404" pitchFamily="49" charset="0"/>
              </a:rPr>
              <a:t>Matched: This is a header</a:t>
            </a:r>
          </a:p>
        </p:txBody>
      </p:sp>
      <p:sp>
        <p:nvSpPr>
          <p:cNvPr id="2" name="Slide Number Placeholder 1">
            <a:extLst>
              <a:ext uri="{FF2B5EF4-FFF2-40B4-BE49-F238E27FC236}">
                <a16:creationId xmlns:a16="http://schemas.microsoft.com/office/drawing/2014/main" id="{73E129EF-AA2F-C38E-F38A-D01970F7F753}"/>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1343096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999848" y="325621"/>
            <a:ext cx="11517818" cy="805001"/>
          </a:xfrm>
        </p:spPr>
        <p:txBody>
          <a:bodyPr/>
          <a:lstStyle/>
          <a:p>
            <a:r>
              <a:rPr lang="en-GB" dirty="0"/>
              <a:t>Another example</a:t>
            </a:r>
          </a:p>
        </p:txBody>
      </p:sp>
      <p:sp>
        <p:nvSpPr>
          <p:cNvPr id="21507" name="Content Placeholder 2"/>
          <p:cNvSpPr>
            <a:spLocks noGrp="1"/>
          </p:cNvSpPr>
          <p:nvPr>
            <p:ph idx="1"/>
          </p:nvPr>
        </p:nvSpPr>
        <p:spPr>
          <a:xfrm>
            <a:off x="337879" y="1201632"/>
            <a:ext cx="11516239" cy="4955354"/>
          </a:xfrm>
        </p:spPr>
        <p:txBody>
          <a:bodyPr/>
          <a:lstStyle/>
          <a:p>
            <a:pPr>
              <a:spcBef>
                <a:spcPts val="100"/>
              </a:spcBef>
            </a:pPr>
            <a:r>
              <a:rPr lang="en-GB" b="1" dirty="0"/>
              <a:t>Subtract 1 from the 2</a:t>
            </a:r>
            <a:r>
              <a:rPr lang="en-GB" b="1" baseline="30000" dirty="0"/>
              <a:t>nd</a:t>
            </a:r>
            <a:r>
              <a:rPr lang="en-GB" b="1" dirty="0"/>
              <a:t> field for:</a:t>
            </a:r>
          </a:p>
          <a:p>
            <a:pPr lvl="1">
              <a:spcBef>
                <a:spcPts val="100"/>
              </a:spcBef>
              <a:buFont typeface="Arial" panose="020B0604020202020204" pitchFamily="34" charset="0"/>
              <a:buChar char="•"/>
            </a:pPr>
            <a:r>
              <a:rPr lang="en-GB" b="0" dirty="0">
                <a:latin typeface="Courier New" panose="02070309020205020404" pitchFamily="49" charset="0"/>
              </a:rPr>
              <a:t>.log</a:t>
            </a:r>
            <a:r>
              <a:rPr lang="en-GB" dirty="0"/>
              <a:t> files where the user (3</a:t>
            </a:r>
            <a:r>
              <a:rPr lang="en-GB" baseline="30000" dirty="0"/>
              <a:t>rd</a:t>
            </a:r>
            <a:r>
              <a:rPr lang="en-GB" dirty="0"/>
              <a:t> field) is </a:t>
            </a:r>
            <a:r>
              <a:rPr lang="en-GB" b="0" dirty="0">
                <a:latin typeface="Courier New" panose="02070309020205020404" pitchFamily="49" charset="0"/>
              </a:rPr>
              <a:t>root</a:t>
            </a:r>
          </a:p>
          <a:p>
            <a:pPr lvl="1">
              <a:spcBef>
                <a:spcPts val="100"/>
              </a:spcBef>
              <a:buFont typeface="Arial" panose="020B0604020202020204" pitchFamily="34" charset="0"/>
              <a:buChar char="•"/>
            </a:pPr>
            <a:r>
              <a:rPr lang="en-GB" b="0" dirty="0">
                <a:latin typeface="Courier New" panose="02070309020205020404" pitchFamily="49" charset="0"/>
              </a:rPr>
              <a:t>.</a:t>
            </a:r>
            <a:r>
              <a:rPr lang="en-GB" b="0" dirty="0" err="1">
                <a:latin typeface="Courier New" panose="02070309020205020404" pitchFamily="49" charset="0"/>
              </a:rPr>
              <a:t>dat</a:t>
            </a:r>
            <a:r>
              <a:rPr lang="en-GB" dirty="0"/>
              <a:t> files where the type (4</a:t>
            </a:r>
            <a:r>
              <a:rPr lang="en-GB" baseline="30000" dirty="0"/>
              <a:t>th</a:t>
            </a:r>
            <a:r>
              <a:rPr lang="en-GB" dirty="0"/>
              <a:t> field) is </a:t>
            </a:r>
            <a:r>
              <a:rPr lang="en-GB" b="0" dirty="0">
                <a:latin typeface="Courier New" panose="02070309020205020404" pitchFamily="49" charset="0"/>
              </a:rPr>
              <a:t>system</a:t>
            </a:r>
          </a:p>
          <a:p>
            <a:endParaRPr lang="en-GB" dirty="0"/>
          </a:p>
        </p:txBody>
      </p:sp>
      <p:sp>
        <p:nvSpPr>
          <p:cNvPr id="21508" name="TextBox 3"/>
          <p:cNvSpPr txBox="1">
            <a:spLocks noChangeArrowheads="1"/>
          </p:cNvSpPr>
          <p:nvPr/>
        </p:nvSpPr>
        <p:spPr bwMode="auto">
          <a:xfrm>
            <a:off x="1798990" y="2557207"/>
            <a:ext cx="8594019" cy="2244204"/>
          </a:xfrm>
          <a:prstGeom prst="rect">
            <a:avLst/>
          </a:prstGeom>
          <a:solidFill>
            <a:schemeClr val="tx2">
              <a:lumMod val="20000"/>
              <a:lumOff val="80000"/>
            </a:schemeClr>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100"/>
              </a:spcBef>
            </a:pPr>
            <a:r>
              <a:rPr lang="en-GB" sz="1800" dirty="0">
                <a:latin typeface="Courier New" panose="02070309020205020404" pitchFamily="49" charset="0"/>
              </a:rPr>
              <a:t>for line in open('log.txt'):</a:t>
            </a:r>
          </a:p>
          <a:p>
            <a:pPr>
              <a:spcBef>
                <a:spcPts val="100"/>
              </a:spcBef>
            </a:pPr>
            <a:r>
              <a:rPr lang="en-GB" sz="1800" dirty="0">
                <a:latin typeface="Courier New" panose="02070309020205020404" pitchFamily="49" charset="0"/>
              </a:rPr>
              <a:t>   </a:t>
            </a:r>
            <a:r>
              <a:rPr lang="en-GB" sz="1800" dirty="0" err="1">
                <a:latin typeface="Courier New" panose="02070309020205020404" pitchFamily="49" charset="0"/>
              </a:rPr>
              <a:t>nline</a:t>
            </a:r>
            <a:r>
              <a:rPr lang="en-GB" sz="1800" dirty="0">
                <a:latin typeface="Courier New" panose="02070309020205020404" pitchFamily="49" charset="0"/>
              </a:rPr>
              <a:t> = </a:t>
            </a:r>
            <a:r>
              <a:rPr lang="en-GB" sz="1800" dirty="0" err="1">
                <a:latin typeface="Courier New" panose="02070309020205020404" pitchFamily="49" charset="0"/>
              </a:rPr>
              <a:t>re.sub</a:t>
            </a:r>
            <a:r>
              <a:rPr lang="en-GB" sz="1800" dirty="0">
                <a:latin typeface="Courier New" panose="02070309020205020404" pitchFamily="49" charset="0"/>
              </a:rPr>
              <a:t>(</a:t>
            </a:r>
          </a:p>
          <a:p>
            <a:pPr>
              <a:spcBef>
                <a:spcPts val="100"/>
              </a:spcBef>
            </a:pPr>
            <a:r>
              <a:rPr lang="en-GB" sz="1800" dirty="0">
                <a:latin typeface="Courier New" panose="02070309020205020404" pitchFamily="49" charset="0"/>
              </a:rPr>
              <a:t>     '(?:(?&lt;=\.log,)(\d+)(?=,root,)) | </a:t>
            </a:r>
          </a:p>
          <a:p>
            <a:pPr>
              <a:spcBef>
                <a:spcPts val="100"/>
              </a:spcBef>
            </a:pPr>
            <a:r>
              <a:rPr lang="en-GB" sz="1800" dirty="0">
                <a:latin typeface="Courier New" panose="02070309020205020404" pitchFamily="49" charset="0"/>
              </a:rPr>
              <a:t>      (?:(?&lt;=\.</a:t>
            </a:r>
            <a:r>
              <a:rPr lang="en-GB" sz="1800" dirty="0" err="1">
                <a:latin typeface="Courier New" panose="02070309020205020404" pitchFamily="49" charset="0"/>
              </a:rPr>
              <a:t>dat</a:t>
            </a:r>
            <a:r>
              <a:rPr lang="en-GB" sz="1800" dirty="0">
                <a:latin typeface="Courier New" panose="02070309020205020404" pitchFamily="49" charset="0"/>
              </a:rPr>
              <a:t>,)(\d+)(?=.*,system$))',</a:t>
            </a:r>
          </a:p>
          <a:p>
            <a:pPr>
              <a:spcBef>
                <a:spcPts val="100"/>
              </a:spcBef>
            </a:pPr>
            <a:r>
              <a:rPr lang="en-GB" sz="1800" dirty="0">
                <a:latin typeface="Courier New" panose="02070309020205020404" pitchFamily="49" charset="0"/>
              </a:rPr>
              <a:t>     lambda m: </a:t>
            </a:r>
            <a:r>
              <a:rPr lang="en-GB" sz="1800" dirty="0" err="1">
                <a:latin typeface="Courier New" panose="02070309020205020404" pitchFamily="49" charset="0"/>
              </a:rPr>
              <a:t>str</a:t>
            </a:r>
            <a:r>
              <a:rPr lang="en-GB" sz="1800" dirty="0">
                <a:latin typeface="Courier New" panose="02070309020205020404" pitchFamily="49" charset="0"/>
              </a:rPr>
              <a:t>(</a:t>
            </a:r>
            <a:r>
              <a:rPr lang="en-GB" sz="1800" dirty="0" err="1">
                <a:latin typeface="Courier New" panose="02070309020205020404" pitchFamily="49" charset="0"/>
              </a:rPr>
              <a:t>int</a:t>
            </a:r>
            <a:r>
              <a:rPr lang="en-GB" sz="1800" dirty="0">
                <a:latin typeface="Courier New" panose="02070309020205020404" pitchFamily="49" charset="0"/>
              </a:rPr>
              <a:t>(</a:t>
            </a:r>
            <a:r>
              <a:rPr lang="en-GB" sz="1800" dirty="0" err="1">
                <a:latin typeface="Courier New" panose="02070309020205020404" pitchFamily="49" charset="0"/>
              </a:rPr>
              <a:t>m.group</a:t>
            </a:r>
            <a:r>
              <a:rPr lang="en-GB" sz="1800" dirty="0">
                <a:latin typeface="Courier New" panose="02070309020205020404" pitchFamily="49" charset="0"/>
              </a:rPr>
              <a:t>(1))-1) if </a:t>
            </a:r>
            <a:r>
              <a:rPr lang="en-GB" sz="1800" dirty="0" err="1">
                <a:latin typeface="Courier New" panose="02070309020205020404" pitchFamily="49" charset="0"/>
              </a:rPr>
              <a:t>m.group</a:t>
            </a:r>
            <a:r>
              <a:rPr lang="en-GB" sz="1800" dirty="0">
                <a:latin typeface="Courier New" panose="02070309020205020404" pitchFamily="49" charset="0"/>
              </a:rPr>
              <a:t>(1) \</a:t>
            </a:r>
          </a:p>
          <a:p>
            <a:pPr>
              <a:spcBef>
                <a:spcPts val="100"/>
              </a:spcBef>
            </a:pPr>
            <a:r>
              <a:rPr lang="en-GB" sz="1800" dirty="0">
                <a:latin typeface="Courier New" panose="02070309020205020404" pitchFamily="49" charset="0"/>
              </a:rPr>
              <a:t>               else str(int(</a:t>
            </a:r>
            <a:r>
              <a:rPr lang="en-GB" sz="1800" dirty="0" err="1">
                <a:latin typeface="Courier New" panose="02070309020205020404" pitchFamily="49" charset="0"/>
              </a:rPr>
              <a:t>m.group</a:t>
            </a:r>
            <a:r>
              <a:rPr lang="en-GB" sz="1800" dirty="0">
                <a:latin typeface="Courier New" panose="02070309020205020404" pitchFamily="49" charset="0"/>
              </a:rPr>
              <a:t>(2))-1), line, </a:t>
            </a:r>
            <a:r>
              <a:rPr lang="en-GB" sz="1800" dirty="0" err="1">
                <a:latin typeface="Courier New" panose="02070309020205020404" pitchFamily="49" charset="0"/>
              </a:rPr>
              <a:t>re.X</a:t>
            </a:r>
            <a:r>
              <a:rPr lang="en-GB" sz="1800" dirty="0">
                <a:latin typeface="Courier New" panose="02070309020205020404" pitchFamily="49" charset="0"/>
              </a:rPr>
              <a:t>)      </a:t>
            </a:r>
          </a:p>
          <a:p>
            <a:pPr>
              <a:spcBef>
                <a:spcPts val="100"/>
              </a:spcBef>
            </a:pPr>
            <a:r>
              <a:rPr lang="en-GB" sz="800" dirty="0">
                <a:latin typeface="Courier New" panose="02070309020205020404" pitchFamily="49" charset="0"/>
              </a:rPr>
              <a:t>    </a:t>
            </a:r>
          </a:p>
          <a:p>
            <a:pPr>
              <a:spcBef>
                <a:spcPts val="100"/>
              </a:spcBef>
            </a:pPr>
            <a:r>
              <a:rPr lang="en-GB" sz="1800" dirty="0">
                <a:latin typeface="Courier New" panose="02070309020205020404" pitchFamily="49" charset="0"/>
              </a:rPr>
              <a:t>   print(</a:t>
            </a:r>
            <a:r>
              <a:rPr lang="en-GB" sz="1800" dirty="0" err="1">
                <a:latin typeface="Courier New" panose="02070309020205020404" pitchFamily="49" charset="0"/>
              </a:rPr>
              <a:t>nline</a:t>
            </a:r>
            <a:r>
              <a:rPr lang="en-GB" sz="1800" dirty="0">
                <a:latin typeface="Courier New" panose="02070309020205020404" pitchFamily="49" charset="0"/>
              </a:rPr>
              <a:t>, end = "")</a:t>
            </a:r>
          </a:p>
        </p:txBody>
      </p:sp>
      <p:sp>
        <p:nvSpPr>
          <p:cNvPr id="21509" name="TextBox 4"/>
          <p:cNvSpPr txBox="1">
            <a:spLocks noChangeArrowheads="1"/>
          </p:cNvSpPr>
          <p:nvPr/>
        </p:nvSpPr>
        <p:spPr bwMode="auto">
          <a:xfrm>
            <a:off x="6134452" y="4898854"/>
            <a:ext cx="4219575" cy="1528763"/>
          </a:xfrm>
          <a:prstGeom prst="rect">
            <a:avLst/>
          </a:prstGeom>
          <a:solidFill>
            <a:srgbClr val="DFFFCD"/>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100"/>
              </a:spcBef>
            </a:pPr>
            <a:r>
              <a:rPr lang="en-GB" sz="1800" dirty="0">
                <a:latin typeface="Courier New" panose="02070309020205020404" pitchFamily="49" charset="0"/>
              </a:rPr>
              <a:t>accounts.dat,</a:t>
            </a:r>
            <a:r>
              <a:rPr lang="en-GB" sz="1800" b="1" dirty="0">
                <a:latin typeface="Courier New" panose="02070309020205020404" pitchFamily="49" charset="0"/>
              </a:rPr>
              <a:t>1</a:t>
            </a:r>
            <a:r>
              <a:rPr lang="en-GB" sz="1800" dirty="0">
                <a:latin typeface="Courier New" panose="02070309020205020404" pitchFamily="49" charset="0"/>
              </a:rPr>
              <a:t>,user12,system</a:t>
            </a:r>
          </a:p>
          <a:p>
            <a:pPr>
              <a:spcBef>
                <a:spcPts val="100"/>
              </a:spcBef>
            </a:pPr>
            <a:r>
              <a:rPr lang="en-GB" sz="1800" dirty="0">
                <a:latin typeface="Courier New" panose="02070309020205020404" pitchFamily="49" charset="0"/>
              </a:rPr>
              <a:t>apache.log,1682,apache,daemon</a:t>
            </a:r>
          </a:p>
          <a:p>
            <a:pPr>
              <a:spcBef>
                <a:spcPts val="100"/>
              </a:spcBef>
            </a:pPr>
            <a:r>
              <a:rPr lang="en-GB" sz="1800" dirty="0">
                <a:latin typeface="Courier New" panose="02070309020205020404" pitchFamily="49" charset="0"/>
              </a:rPr>
              <a:t>var.log,</a:t>
            </a:r>
            <a:r>
              <a:rPr lang="en-GB" sz="1800" b="1" dirty="0">
                <a:latin typeface="Courier New" panose="02070309020205020404" pitchFamily="49" charset="0"/>
              </a:rPr>
              <a:t>22</a:t>
            </a:r>
            <a:r>
              <a:rPr lang="en-GB" sz="1800" dirty="0">
                <a:latin typeface="Courier New" panose="02070309020205020404" pitchFamily="49" charset="0"/>
              </a:rPr>
              <a:t>,root,user</a:t>
            </a:r>
          </a:p>
          <a:p>
            <a:pPr>
              <a:spcBef>
                <a:spcPts val="100"/>
              </a:spcBef>
            </a:pPr>
            <a:r>
              <a:rPr lang="en-GB" sz="1800" dirty="0">
                <a:latin typeface="Courier New" panose="02070309020205020404" pitchFamily="49" charset="0"/>
              </a:rPr>
              <a:t>profile.dat,57,home,user</a:t>
            </a:r>
          </a:p>
          <a:p>
            <a:pPr>
              <a:spcBef>
                <a:spcPts val="100"/>
              </a:spcBef>
            </a:pPr>
            <a:r>
              <a:rPr lang="en-GB" sz="1800" dirty="0">
                <a:latin typeface="Courier New" panose="02070309020205020404" pitchFamily="49" charset="0"/>
              </a:rPr>
              <a:t>payroll.dat,</a:t>
            </a:r>
            <a:r>
              <a:rPr lang="en-GB" sz="1800" b="1" dirty="0">
                <a:latin typeface="Courier New" panose="02070309020205020404" pitchFamily="49" charset="0"/>
              </a:rPr>
              <a:t>886</a:t>
            </a:r>
            <a:r>
              <a:rPr lang="en-GB" sz="1800" dirty="0">
                <a:latin typeface="Courier New" panose="02070309020205020404" pitchFamily="49" charset="0"/>
              </a:rPr>
              <a:t>,prd,system</a:t>
            </a:r>
          </a:p>
        </p:txBody>
      </p:sp>
      <p:sp>
        <p:nvSpPr>
          <p:cNvPr id="6" name="TextBox 5"/>
          <p:cNvSpPr txBox="1"/>
          <p:nvPr/>
        </p:nvSpPr>
        <p:spPr>
          <a:xfrm>
            <a:off x="1589439" y="5276679"/>
            <a:ext cx="4229100" cy="1477963"/>
          </a:xfrm>
          <a:prstGeom prst="rect">
            <a:avLst/>
          </a:prstGeom>
          <a:solidFill>
            <a:schemeClr val="accent4">
              <a:lumMod val="10000"/>
              <a:lumOff val="90000"/>
            </a:schemeClr>
          </a:solidFill>
          <a:ln>
            <a:solidFill>
              <a:schemeClr val="tx1"/>
            </a:solidFill>
          </a:ln>
        </p:spPr>
        <p:txBody>
          <a:bodyPr wrap="none">
            <a:spAutoFit/>
          </a:bodyPr>
          <a:lstStyle/>
          <a:p>
            <a:pPr>
              <a:defRPr/>
            </a:pPr>
            <a:r>
              <a:rPr lang="en-GB" dirty="0">
                <a:latin typeface="Courier New" panose="02070309020205020404" pitchFamily="49" charset="0"/>
              </a:rPr>
              <a:t>accounts.dat,2,user12,system</a:t>
            </a:r>
          </a:p>
          <a:p>
            <a:pPr>
              <a:defRPr/>
            </a:pPr>
            <a:r>
              <a:rPr lang="en-GB" dirty="0">
                <a:latin typeface="Courier New" panose="02070309020205020404" pitchFamily="49" charset="0"/>
              </a:rPr>
              <a:t>apache.log,1682,apache,daemon</a:t>
            </a:r>
          </a:p>
          <a:p>
            <a:pPr>
              <a:defRPr/>
            </a:pPr>
            <a:r>
              <a:rPr lang="en-GB" dirty="0">
                <a:latin typeface="Courier New" panose="02070309020205020404" pitchFamily="49" charset="0"/>
              </a:rPr>
              <a:t>var.log,23,root,user</a:t>
            </a:r>
          </a:p>
          <a:p>
            <a:pPr>
              <a:defRPr/>
            </a:pPr>
            <a:r>
              <a:rPr lang="en-GB" dirty="0">
                <a:latin typeface="Courier New" panose="02070309020205020404" pitchFamily="49" charset="0"/>
              </a:rPr>
              <a:t>profile.dat,57,home,user</a:t>
            </a:r>
          </a:p>
          <a:p>
            <a:pPr>
              <a:defRPr/>
            </a:pPr>
            <a:r>
              <a:rPr lang="en-GB" dirty="0">
                <a:latin typeface="Courier New" panose="02070309020205020404" pitchFamily="49" charset="0"/>
              </a:rPr>
              <a:t>payroll.dat,887,prd,system</a:t>
            </a:r>
          </a:p>
        </p:txBody>
      </p:sp>
      <p:cxnSp>
        <p:nvCxnSpPr>
          <p:cNvPr id="21511" name="Straight Arrow Connector 8"/>
          <p:cNvCxnSpPr>
            <a:cxnSpLocks noChangeShapeType="1"/>
          </p:cNvCxnSpPr>
          <p:nvPr/>
        </p:nvCxnSpPr>
        <p:spPr bwMode="auto">
          <a:xfrm>
            <a:off x="5586765" y="6100592"/>
            <a:ext cx="547687" cy="1587"/>
          </a:xfrm>
          <a:prstGeom prst="straightConnector1">
            <a:avLst/>
          </a:prstGeom>
          <a:noFill/>
          <a:ln w="28575" algn="ctr">
            <a:solidFill>
              <a:schemeClr val="tx1"/>
            </a:solidFill>
            <a:round/>
            <a:headEnd/>
            <a:tailEnd type="arrow" w="med" len="med"/>
          </a:ln>
          <a:extLst>
            <a:ext uri="{909E8E84-426E-40dd-AFC4-6F175D3DCCD1}">
              <a14:hiddenFill xmlns="" xmlns:a14="http://schemas.microsoft.com/office/drawing/2010/main">
                <a:noFill/>
              </a14:hiddenFill>
            </a:ext>
          </a:extLst>
        </p:spPr>
      </p:cxnSp>
      <p:sp>
        <p:nvSpPr>
          <p:cNvPr id="2" name="Slide Number Placeholder 1">
            <a:extLst>
              <a:ext uri="{FF2B5EF4-FFF2-40B4-BE49-F238E27FC236}">
                <a16:creationId xmlns:a16="http://schemas.microsoft.com/office/drawing/2014/main" id="{E6E58DDC-0D44-FCBA-7FE3-75ACCBE329A2}"/>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1997530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quarter" idx="10"/>
          </p:nvPr>
        </p:nvSpPr>
        <p:spPr/>
        <p:txBody>
          <a:bodyPr/>
          <a:lstStyle/>
          <a:p>
            <a:pPr>
              <a:lnSpc>
                <a:spcPct val="110000"/>
              </a:lnSpc>
            </a:pPr>
            <a:r>
              <a:rPr lang="en-GB" dirty="0"/>
              <a:t>Summary</a:t>
            </a:r>
          </a:p>
        </p:txBody>
      </p:sp>
      <p:sp>
        <p:nvSpPr>
          <p:cNvPr id="2" name="Text Placeholder 1">
            <a:extLst>
              <a:ext uri="{FF2B5EF4-FFF2-40B4-BE49-F238E27FC236}">
                <a16:creationId xmlns:a16="http://schemas.microsoft.com/office/drawing/2014/main" id="{320169C4-3CB1-4241-A2F7-3E5E493420DC}"/>
              </a:ext>
            </a:extLst>
          </p:cNvPr>
          <p:cNvSpPr>
            <a:spLocks noGrp="1"/>
          </p:cNvSpPr>
          <p:nvPr>
            <p:ph type="body" sz="quarter" idx="15"/>
          </p:nvPr>
        </p:nvSpPr>
        <p:spPr>
          <a:xfrm>
            <a:off x="5037138" y="1349984"/>
            <a:ext cx="6454646" cy="4094163"/>
          </a:xfrm>
        </p:spPr>
        <p:txBody>
          <a:bodyPr/>
          <a:lstStyle/>
          <a:p>
            <a:pPr marL="342900" indent="-342900">
              <a:lnSpc>
                <a:spcPct val="110000"/>
              </a:lnSpc>
              <a:buFont typeface="Arial" panose="020B0604020202020204" pitchFamily="34" charset="0"/>
              <a:buChar char="•"/>
            </a:pPr>
            <a:r>
              <a:rPr lang="en-GB" dirty="0"/>
              <a:t>Modifiers alter the effect of the RE.</a:t>
            </a:r>
          </a:p>
          <a:p>
            <a:pPr marL="342900" indent="-342900">
              <a:lnSpc>
                <a:spcPct val="110000"/>
              </a:lnSpc>
              <a:buFont typeface="Arial" panose="020B0604020202020204" pitchFamily="34" charset="0"/>
              <a:buChar char="•"/>
            </a:pPr>
            <a:r>
              <a:rPr lang="en-GB" dirty="0"/>
              <a:t>Side effect variables and capturing can be controlled.</a:t>
            </a:r>
          </a:p>
          <a:p>
            <a:pPr marL="342900" indent="-342900">
              <a:lnSpc>
                <a:spcPct val="110000"/>
              </a:lnSpc>
              <a:buFont typeface="Arial" panose="020B0604020202020204" pitchFamily="34" charset="0"/>
              <a:buChar char="•"/>
            </a:pPr>
            <a:r>
              <a:rPr lang="en-GB" dirty="0"/>
              <a:t>Minimal matches use a ? after the quantifier.</a:t>
            </a:r>
          </a:p>
          <a:p>
            <a:pPr marL="342900" indent="-342900">
              <a:lnSpc>
                <a:spcPct val="110000"/>
              </a:lnSpc>
              <a:buFont typeface="Arial" panose="020B0604020202020204" pitchFamily="34" charset="0"/>
              <a:buChar char="•"/>
            </a:pPr>
            <a:r>
              <a:rPr lang="en-GB" dirty="0"/>
              <a:t>Multi-line matching uses </a:t>
            </a:r>
            <a:r>
              <a:rPr lang="en-GB" dirty="0" err="1"/>
              <a:t>re.M</a:t>
            </a:r>
            <a:r>
              <a:rPr lang="en-GB" dirty="0"/>
              <a:t> and </a:t>
            </a:r>
            <a:r>
              <a:rPr lang="en-GB" dirty="0" err="1"/>
              <a:t>re.S</a:t>
            </a:r>
            <a:r>
              <a:rPr lang="en-GB" dirty="0"/>
              <a:t>.</a:t>
            </a:r>
          </a:p>
          <a:p>
            <a:pPr marL="342900" indent="-342900">
              <a:lnSpc>
                <a:spcPct val="110000"/>
              </a:lnSpc>
              <a:buFont typeface="Arial" panose="020B0604020202020204" pitchFamily="34" charset="0"/>
              <a:buChar char="•"/>
            </a:pPr>
            <a:r>
              <a:rPr lang="en-GB" dirty="0"/>
              <a:t>Look-around assertions.</a:t>
            </a:r>
          </a:p>
          <a:p>
            <a:pPr marL="342900" indent="-342900">
              <a:lnSpc>
                <a:spcPct val="110000"/>
              </a:lnSpc>
              <a:buFont typeface="Arial" panose="020B0604020202020204" pitchFamily="34" charset="0"/>
              <a:buChar char="•"/>
            </a:pPr>
            <a:r>
              <a:rPr lang="en-GB" dirty="0"/>
              <a:t>Substitution with interpolation.</a:t>
            </a:r>
          </a:p>
          <a:p>
            <a:pPr marL="342900" indent="-342900">
              <a:lnSpc>
                <a:spcPct val="110000"/>
              </a:lnSpc>
              <a:buFont typeface="Arial" panose="020B0604020202020204" pitchFamily="34" charset="0"/>
              <a:buChar char="•"/>
            </a:pPr>
            <a:r>
              <a:rPr lang="en-GB" dirty="0"/>
              <a:t>Substitution with expressions.</a:t>
            </a:r>
          </a:p>
          <a:p>
            <a:endParaRPr lang="en-GB" dirty="0"/>
          </a:p>
        </p:txBody>
      </p:sp>
      <p:pic>
        <p:nvPicPr>
          <p:cNvPr id="3" name="Graphic 31">
            <a:extLst>
              <a:ext uri="{FF2B5EF4-FFF2-40B4-BE49-F238E27FC236}">
                <a16:creationId xmlns:a16="http://schemas.microsoft.com/office/drawing/2014/main" id="{219BFF66-5603-CCD9-B971-94FC2FC655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56365988-DE77-5457-53E4-03E44CC722B0}"/>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38263970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0A520D-475F-4A34-BA66-4EC3411B0DB3}">
  <ds:schemaRefs>
    <ds:schemaRef ds:uri="http://schemas.microsoft.com/sharepoint/v3/contenttype/forms"/>
  </ds:schemaRefs>
</ds:datastoreItem>
</file>

<file path=customXml/itemProps2.xml><?xml version="1.0" encoding="utf-8"?>
<ds:datastoreItem xmlns:ds="http://schemas.openxmlformats.org/officeDocument/2006/customXml" ds:itemID="{C275A7C6-F8AD-48EC-A843-38150F0544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d1066a-245b-4400-ad94-398f95c475c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8A9835-1A27-438C-8FD9-C78D80CA57A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1399</TotalTime>
  <Words>4729</Words>
  <Application>Microsoft Office PowerPoint</Application>
  <PresentationFormat>Widescreen</PresentationFormat>
  <Paragraphs>453</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Wingdings</vt:lpstr>
      <vt:lpstr>Courier New</vt:lpstr>
      <vt:lpstr>Arial</vt:lpstr>
      <vt:lpstr>Montserrat</vt:lpstr>
      <vt:lpstr>Montserrat Black</vt:lpstr>
      <vt:lpstr>Master</vt:lpstr>
      <vt:lpstr>Python 3 Programming</vt:lpstr>
      <vt:lpstr>PowerPoint Presentation</vt:lpstr>
      <vt:lpstr>Elementary extended RE meta-characters</vt:lpstr>
      <vt:lpstr>Regular expression objects</vt:lpstr>
      <vt:lpstr>Regular expression substitution</vt:lpstr>
      <vt:lpstr>Compiled REs and RE objects</vt:lpstr>
      <vt:lpstr>Flags</vt:lpstr>
      <vt:lpstr>Global matches</vt:lpstr>
      <vt:lpstr>Back-references</vt:lpstr>
      <vt:lpstr>Non-capturing groups</vt:lpstr>
      <vt:lpstr>Other match methods</vt:lpstr>
      <vt:lpstr>Named captures</vt:lpstr>
      <vt:lpstr>Minimal matches</vt:lpstr>
      <vt:lpstr>Multi-line matches</vt:lpstr>
      <vt:lpstr>Multi-line matches</vt:lpstr>
      <vt:lpstr>Alternatives to ^ and $</vt:lpstr>
      <vt:lpstr>Comments in regular expressions</vt:lpstr>
      <vt:lpstr>Lambda in re.sub</vt:lpstr>
      <vt:lpstr>Look-around assertions</vt:lpstr>
      <vt:lpstr>Another example</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135</cp:revision>
  <cp:lastPrinted>2019-07-03T09:46:41Z</cp:lastPrinted>
  <dcterms:created xsi:type="dcterms:W3CDTF">2019-09-05T08:17:12Z</dcterms:created>
  <dcterms:modified xsi:type="dcterms:W3CDTF">2024-02-20T12:09:47Z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20</vt:lpwstr>
  </property>
</Properties>
</file>